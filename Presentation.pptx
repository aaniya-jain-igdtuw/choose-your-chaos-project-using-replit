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210 8비트" charset="1" panose="02020503020101020101"/>
      <p:regular r:id="rId23"/>
    </p:embeddedFont>
    <p:embeddedFont>
      <p:font typeface="Press Start 2P" charset="1" panose="00000500000000000000"/>
      <p:regular r:id="rId24"/>
    </p:embeddedFont>
    <p:embeddedFont>
      <p:font typeface="210 8비트 Bold" charset="1" panose="02020503020101020101"/>
      <p:regular r:id="rId25"/>
    </p:embeddedFont>
    <p:embeddedFont>
      <p:font typeface="Cy Grotesk V3 Key Bold" charset="1" panose="00000800000000000000"/>
      <p:regular r:id="rId26"/>
    </p:embeddedFont>
    <p:embeddedFont>
      <p:font typeface="Aloja" charset="1" panose="02000500000000000000"/>
      <p:regular r:id="rId27"/>
    </p:embeddedFont>
    <p:embeddedFont>
      <p:font typeface="Poppins" charset="1" panose="00000500000000000000"/>
      <p:regular r:id="rId28"/>
    </p:embeddedFont>
    <p:embeddedFont>
      <p:font typeface="Cooper BT Bold" charset="1" panose="0208080404030B020404"/>
      <p:regular r:id="rId29"/>
    </p:embeddedFont>
    <p:embeddedFont>
      <p:font typeface="Racing Sans One" charset="1" panose="02000000000000000000"/>
      <p:regular r:id="rId30"/>
    </p:embeddedFont>
    <p:embeddedFont>
      <p:font typeface="Montserrat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20.png" Type="http://schemas.openxmlformats.org/officeDocument/2006/relationships/image"/><Relationship Id="rId16" Target="../media/image21.svg" Type="http://schemas.openxmlformats.org/officeDocument/2006/relationships/image"/><Relationship Id="rId17" Target="../media/image24.png" Type="http://schemas.openxmlformats.org/officeDocument/2006/relationships/image"/><Relationship Id="rId18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17" Target="../media/image20.png" Type="http://schemas.openxmlformats.org/officeDocument/2006/relationships/image"/><Relationship Id="rId18" Target="../media/image21.svg" Type="http://schemas.openxmlformats.org/officeDocument/2006/relationships/image"/><Relationship Id="rId19" Target="../media/image24.png" Type="http://schemas.openxmlformats.org/officeDocument/2006/relationships/image"/><Relationship Id="rId2" Target="../media/image1.png" Type="http://schemas.openxmlformats.org/officeDocument/2006/relationships/image"/><Relationship Id="rId20" Target="../media/image25.svg" Type="http://schemas.openxmlformats.org/officeDocument/2006/relationships/image"/><Relationship Id="rId21" Target="../media/image28.png" Type="http://schemas.openxmlformats.org/officeDocument/2006/relationships/image"/><Relationship Id="rId22" Target="../media/image29.png" Type="http://schemas.openxmlformats.org/officeDocument/2006/relationships/image"/><Relationship Id="rId23" Target="../media/image30.png" Type="http://schemas.openxmlformats.org/officeDocument/2006/relationships/image"/><Relationship Id="rId24" Target="../media/image31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20.png" Type="http://schemas.openxmlformats.org/officeDocument/2006/relationships/image"/><Relationship Id="rId17" Target="../media/image2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sv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64.svg" Type="http://schemas.openxmlformats.org/officeDocument/2006/relationships/image"/><Relationship Id="rId5" Target="../media/image65.png" Type="http://schemas.openxmlformats.org/officeDocument/2006/relationships/image"/><Relationship Id="rId6" Target="../media/image66.svg" Type="http://schemas.openxmlformats.org/officeDocument/2006/relationships/image"/><Relationship Id="rId7" Target="../media/image67.png" Type="http://schemas.openxmlformats.org/officeDocument/2006/relationships/image"/><Relationship Id="rId8" Target="../media/image68.png" Type="http://schemas.openxmlformats.org/officeDocument/2006/relationships/image"/><Relationship Id="rId9" Target="../media/image6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svg" Type="http://schemas.openxmlformats.org/officeDocument/2006/relationships/image"/><Relationship Id="rId12" Target="../media/image83.png" Type="http://schemas.openxmlformats.org/officeDocument/2006/relationships/image"/><Relationship Id="rId13" Target="../media/image84.svg" Type="http://schemas.openxmlformats.org/officeDocument/2006/relationships/image"/><Relationship Id="rId14" Target="../media/image85.png" Type="http://schemas.openxmlformats.org/officeDocument/2006/relationships/image"/><Relationship Id="rId15" Target="../media/image86.svg" Type="http://schemas.openxmlformats.org/officeDocument/2006/relationships/image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88.png" Type="http://schemas.openxmlformats.org/officeDocument/2006/relationships/image"/><Relationship Id="rId4" Target="../media/image8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90.png" Type="http://schemas.openxmlformats.org/officeDocument/2006/relationships/image"/><Relationship Id="rId4" Target="../media/image91.png" Type="http://schemas.openxmlformats.org/officeDocument/2006/relationships/image"/><Relationship Id="rId5" Target="../media/image89.png" Type="http://schemas.openxmlformats.org/officeDocument/2006/relationships/image"/><Relationship Id="rId6" Target="../media/image92.png" Type="http://schemas.openxmlformats.org/officeDocument/2006/relationships/image"/><Relationship Id="rId7" Target="../media/image9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94.png" Type="http://schemas.openxmlformats.org/officeDocument/2006/relationships/image"/><Relationship Id="rId4" Target="../media/image9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6.png" Type="http://schemas.openxmlformats.org/officeDocument/2006/relationships/image"/><Relationship Id="rId3" Target="../media/image97.jpeg" Type="http://schemas.openxmlformats.org/officeDocument/2006/relationships/image"/><Relationship Id="rId4" Target="../media/image98.jpeg" Type="http://schemas.openxmlformats.org/officeDocument/2006/relationships/image"/><Relationship Id="rId5" Target="../media/image99.png" Type="http://schemas.openxmlformats.org/officeDocument/2006/relationships/image"/><Relationship Id="rId6" Target="../media/image100.png" Type="http://schemas.openxmlformats.org/officeDocument/2006/relationships/image"/><Relationship Id="rId7" Target="../media/image10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670">
                <a:alpha val="100000"/>
              </a:srgbClr>
            </a:gs>
            <a:gs pos="50000">
              <a:srgbClr val="0A16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61028">
            <a:off x="4101592" y="1345580"/>
            <a:ext cx="1043974" cy="941475"/>
          </a:xfrm>
          <a:custGeom>
            <a:avLst/>
            <a:gdLst/>
            <a:ahLst/>
            <a:cxnLst/>
            <a:rect r="r" b="b" t="t" l="l"/>
            <a:pathLst>
              <a:path h="941475" w="1043974">
                <a:moveTo>
                  <a:pt x="0" y="0"/>
                </a:moveTo>
                <a:lnTo>
                  <a:pt x="1043974" y="0"/>
                </a:lnTo>
                <a:lnTo>
                  <a:pt x="1043974" y="941474"/>
                </a:lnTo>
                <a:lnTo>
                  <a:pt x="0" y="941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80602" y="1230892"/>
            <a:ext cx="3446328" cy="1560247"/>
          </a:xfrm>
          <a:custGeom>
            <a:avLst/>
            <a:gdLst/>
            <a:ahLst/>
            <a:cxnLst/>
            <a:rect r="r" b="b" t="t" l="l"/>
            <a:pathLst>
              <a:path h="1560247" w="3446328">
                <a:moveTo>
                  <a:pt x="0" y="0"/>
                </a:moveTo>
                <a:lnTo>
                  <a:pt x="3446328" y="0"/>
                </a:lnTo>
                <a:lnTo>
                  <a:pt x="3446328" y="1560247"/>
                </a:lnTo>
                <a:lnTo>
                  <a:pt x="0" y="15602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9855">
            <a:off x="15231551" y="1185070"/>
            <a:ext cx="1071306" cy="1071306"/>
          </a:xfrm>
          <a:custGeom>
            <a:avLst/>
            <a:gdLst/>
            <a:ahLst/>
            <a:cxnLst/>
            <a:rect r="r" b="b" t="t" l="l"/>
            <a:pathLst>
              <a:path h="1071306" w="1071306">
                <a:moveTo>
                  <a:pt x="0" y="0"/>
                </a:moveTo>
                <a:lnTo>
                  <a:pt x="1071306" y="0"/>
                </a:lnTo>
                <a:lnTo>
                  <a:pt x="1071306" y="1071306"/>
                </a:lnTo>
                <a:lnTo>
                  <a:pt x="0" y="1071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60024">
            <a:off x="13777383" y="3566687"/>
            <a:ext cx="1279901" cy="991342"/>
          </a:xfrm>
          <a:custGeom>
            <a:avLst/>
            <a:gdLst/>
            <a:ahLst/>
            <a:cxnLst/>
            <a:rect r="r" b="b" t="t" l="l"/>
            <a:pathLst>
              <a:path h="991342" w="1279901">
                <a:moveTo>
                  <a:pt x="0" y="0"/>
                </a:moveTo>
                <a:lnTo>
                  <a:pt x="1279901" y="0"/>
                </a:lnTo>
                <a:lnTo>
                  <a:pt x="1279901" y="991341"/>
                </a:lnTo>
                <a:lnTo>
                  <a:pt x="0" y="9913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41289">
            <a:off x="187695" y="4762385"/>
            <a:ext cx="1509734" cy="1922115"/>
          </a:xfrm>
          <a:custGeom>
            <a:avLst/>
            <a:gdLst/>
            <a:ahLst/>
            <a:cxnLst/>
            <a:rect r="r" b="b" t="t" l="l"/>
            <a:pathLst>
              <a:path h="1922115" w="1509734">
                <a:moveTo>
                  <a:pt x="0" y="0"/>
                </a:moveTo>
                <a:lnTo>
                  <a:pt x="1509734" y="0"/>
                </a:lnTo>
                <a:lnTo>
                  <a:pt x="1509734" y="1922115"/>
                </a:lnTo>
                <a:lnTo>
                  <a:pt x="0" y="19221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23579" y="6334786"/>
            <a:ext cx="8958039" cy="1938194"/>
          </a:xfrm>
          <a:custGeom>
            <a:avLst/>
            <a:gdLst/>
            <a:ahLst/>
            <a:cxnLst/>
            <a:rect r="r" b="b" t="t" l="l"/>
            <a:pathLst>
              <a:path h="1938194" w="8958039">
                <a:moveTo>
                  <a:pt x="0" y="0"/>
                </a:moveTo>
                <a:lnTo>
                  <a:pt x="8958039" y="0"/>
                </a:lnTo>
                <a:lnTo>
                  <a:pt x="8958039" y="1938194"/>
                </a:lnTo>
                <a:lnTo>
                  <a:pt x="0" y="19381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17483" y="5601517"/>
            <a:ext cx="941745" cy="941745"/>
          </a:xfrm>
          <a:custGeom>
            <a:avLst/>
            <a:gdLst/>
            <a:ahLst/>
            <a:cxnLst/>
            <a:rect r="r" b="b" t="t" l="l"/>
            <a:pathLst>
              <a:path h="941745" w="941745">
                <a:moveTo>
                  <a:pt x="0" y="0"/>
                </a:moveTo>
                <a:lnTo>
                  <a:pt x="941744" y="0"/>
                </a:lnTo>
                <a:lnTo>
                  <a:pt x="941744" y="941744"/>
                </a:lnTo>
                <a:lnTo>
                  <a:pt x="0" y="9417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77684" y="7685063"/>
            <a:ext cx="1703860" cy="1175833"/>
            <a:chOff x="0" y="0"/>
            <a:chExt cx="2271813" cy="15677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6619" y="27601"/>
              <a:ext cx="2145194" cy="1540177"/>
            </a:xfrm>
            <a:custGeom>
              <a:avLst/>
              <a:gdLst/>
              <a:ahLst/>
              <a:cxnLst/>
              <a:rect r="r" b="b" t="t" l="l"/>
              <a:pathLst>
                <a:path h="1540177" w="2145194">
                  <a:moveTo>
                    <a:pt x="0" y="0"/>
                  </a:moveTo>
                  <a:lnTo>
                    <a:pt x="2145194" y="0"/>
                  </a:lnTo>
                  <a:lnTo>
                    <a:pt x="2145194" y="1540177"/>
                  </a:lnTo>
                  <a:lnTo>
                    <a:pt x="0" y="1540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5194" cy="1540177"/>
            </a:xfrm>
            <a:custGeom>
              <a:avLst/>
              <a:gdLst/>
              <a:ahLst/>
              <a:cxnLst/>
              <a:rect r="r" b="b" t="t" l="l"/>
              <a:pathLst>
                <a:path h="1540177" w="2145194">
                  <a:moveTo>
                    <a:pt x="0" y="0"/>
                  </a:moveTo>
                  <a:lnTo>
                    <a:pt x="2145194" y="0"/>
                  </a:lnTo>
                  <a:lnTo>
                    <a:pt x="2145194" y="1540177"/>
                  </a:lnTo>
                  <a:lnTo>
                    <a:pt x="0" y="1540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753813" y="7758051"/>
            <a:ext cx="1104135" cy="1029857"/>
          </a:xfrm>
          <a:custGeom>
            <a:avLst/>
            <a:gdLst/>
            <a:ahLst/>
            <a:cxnLst/>
            <a:rect r="r" b="b" t="t" l="l"/>
            <a:pathLst>
              <a:path h="1029857" w="1104135">
                <a:moveTo>
                  <a:pt x="0" y="0"/>
                </a:moveTo>
                <a:lnTo>
                  <a:pt x="1104136" y="0"/>
                </a:lnTo>
                <a:lnTo>
                  <a:pt x="1104136" y="1029857"/>
                </a:lnTo>
                <a:lnTo>
                  <a:pt x="0" y="102985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60262" y="2653380"/>
            <a:ext cx="2890501" cy="1308608"/>
          </a:xfrm>
          <a:custGeom>
            <a:avLst/>
            <a:gdLst/>
            <a:ahLst/>
            <a:cxnLst/>
            <a:rect r="r" b="b" t="t" l="l"/>
            <a:pathLst>
              <a:path h="1308608" w="2890501">
                <a:moveTo>
                  <a:pt x="0" y="0"/>
                </a:moveTo>
                <a:lnTo>
                  <a:pt x="2890500" y="0"/>
                </a:lnTo>
                <a:lnTo>
                  <a:pt x="2890500" y="1308609"/>
                </a:lnTo>
                <a:lnTo>
                  <a:pt x="0" y="1308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124272">
            <a:off x="2959611" y="4937230"/>
            <a:ext cx="981429" cy="981429"/>
          </a:xfrm>
          <a:custGeom>
            <a:avLst/>
            <a:gdLst/>
            <a:ahLst/>
            <a:cxnLst/>
            <a:rect r="r" b="b" t="t" l="l"/>
            <a:pathLst>
              <a:path h="981429" w="981429">
                <a:moveTo>
                  <a:pt x="0" y="0"/>
                </a:moveTo>
                <a:lnTo>
                  <a:pt x="981429" y="0"/>
                </a:lnTo>
                <a:lnTo>
                  <a:pt x="981429" y="981429"/>
                </a:lnTo>
                <a:lnTo>
                  <a:pt x="0" y="98142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637057" y="8524354"/>
            <a:ext cx="1013887" cy="1337261"/>
          </a:xfrm>
          <a:custGeom>
            <a:avLst/>
            <a:gdLst/>
            <a:ahLst/>
            <a:cxnLst/>
            <a:rect r="r" b="b" t="t" l="l"/>
            <a:pathLst>
              <a:path h="1337261" w="1013887">
                <a:moveTo>
                  <a:pt x="0" y="0"/>
                </a:moveTo>
                <a:lnTo>
                  <a:pt x="1013886" y="0"/>
                </a:lnTo>
                <a:lnTo>
                  <a:pt x="1013886" y="1337261"/>
                </a:lnTo>
                <a:lnTo>
                  <a:pt x="0" y="133726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700000">
            <a:off x="13311101" y="8845264"/>
            <a:ext cx="910297" cy="854120"/>
          </a:xfrm>
          <a:custGeom>
            <a:avLst/>
            <a:gdLst/>
            <a:ahLst/>
            <a:cxnLst/>
            <a:rect r="r" b="b" t="t" l="l"/>
            <a:pathLst>
              <a:path h="854120" w="910297">
                <a:moveTo>
                  <a:pt x="0" y="0"/>
                </a:moveTo>
                <a:lnTo>
                  <a:pt x="910297" y="0"/>
                </a:lnTo>
                <a:lnTo>
                  <a:pt x="910297" y="854120"/>
                </a:lnTo>
                <a:lnTo>
                  <a:pt x="0" y="85412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-381758" r="-352028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700000">
            <a:off x="3750211" y="8810739"/>
            <a:ext cx="910297" cy="854120"/>
          </a:xfrm>
          <a:custGeom>
            <a:avLst/>
            <a:gdLst/>
            <a:ahLst/>
            <a:cxnLst/>
            <a:rect r="r" b="b" t="t" l="l"/>
            <a:pathLst>
              <a:path h="854120" w="910297">
                <a:moveTo>
                  <a:pt x="0" y="0"/>
                </a:moveTo>
                <a:lnTo>
                  <a:pt x="910297" y="0"/>
                </a:lnTo>
                <a:lnTo>
                  <a:pt x="910297" y="854120"/>
                </a:lnTo>
                <a:lnTo>
                  <a:pt x="0" y="85412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-381758" r="-352028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284698" y="7319395"/>
            <a:ext cx="2720814" cy="3143797"/>
          </a:xfrm>
          <a:custGeom>
            <a:avLst/>
            <a:gdLst/>
            <a:ahLst/>
            <a:cxnLst/>
            <a:rect r="r" b="b" t="t" l="l"/>
            <a:pathLst>
              <a:path h="3143797" w="2720814">
                <a:moveTo>
                  <a:pt x="0" y="0"/>
                </a:moveTo>
                <a:lnTo>
                  <a:pt x="2720814" y="0"/>
                </a:lnTo>
                <a:lnTo>
                  <a:pt x="2720814" y="3143797"/>
                </a:lnTo>
                <a:lnTo>
                  <a:pt x="0" y="314379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21788" y="6072389"/>
            <a:ext cx="1489221" cy="3504049"/>
          </a:xfrm>
          <a:custGeom>
            <a:avLst/>
            <a:gdLst/>
            <a:ahLst/>
            <a:cxnLst/>
            <a:rect r="r" b="b" t="t" l="l"/>
            <a:pathLst>
              <a:path h="3504049" w="1489221">
                <a:moveTo>
                  <a:pt x="0" y="0"/>
                </a:moveTo>
                <a:lnTo>
                  <a:pt x="1489221" y="0"/>
                </a:lnTo>
                <a:lnTo>
                  <a:pt x="1489221" y="3504049"/>
                </a:lnTo>
                <a:lnTo>
                  <a:pt x="0" y="350404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603071" y="6920171"/>
            <a:ext cx="9081859" cy="68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6"/>
              </a:lnSpc>
              <a:spcBef>
                <a:spcPct val="0"/>
              </a:spcBef>
            </a:pPr>
            <a:r>
              <a:rPr lang="en-US" sz="3911">
                <a:solidFill>
                  <a:srgbClr val="E17EEF"/>
                </a:solidFill>
                <a:latin typeface="210 8비트"/>
                <a:ea typeface="210 8비트"/>
                <a:cs typeface="210 8비트"/>
                <a:sym typeface="210 8비트"/>
              </a:rPr>
              <a:t>ON</a:t>
            </a:r>
            <a:r>
              <a:rPr lang="en-US" sz="3911">
                <a:solidFill>
                  <a:srgbClr val="E17EEF"/>
                </a:solidFill>
                <a:latin typeface="210 8비트"/>
                <a:ea typeface="210 8비트"/>
                <a:cs typeface="210 8비트"/>
                <a:sym typeface="210 8비트"/>
              </a:rPr>
              <a:t>E TAP. INFINITE WHAT-IFS.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52401" y="722170"/>
            <a:ext cx="5913351" cy="131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22"/>
              </a:lnSpc>
              <a:spcBef>
                <a:spcPct val="0"/>
              </a:spcBef>
            </a:pPr>
            <a:r>
              <a:rPr lang="en-US" sz="7658">
                <a:solidFill>
                  <a:srgbClr val="11CA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CHOOSE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35940" y="2216284"/>
            <a:ext cx="5843503" cy="129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5"/>
              </a:lnSpc>
              <a:spcBef>
                <a:spcPct val="0"/>
              </a:spcBef>
            </a:pPr>
            <a:r>
              <a:rPr lang="en-US" sz="7568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YOUR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86400" y="3438028"/>
            <a:ext cx="7555648" cy="168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0"/>
              </a:lnSpc>
              <a:spcBef>
                <a:spcPct val="0"/>
              </a:spcBef>
            </a:pPr>
            <a:r>
              <a:rPr lang="en-US" sz="9786">
                <a:solidFill>
                  <a:srgbClr val="FB638D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CHAOS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670">
                <a:alpha val="100000"/>
              </a:srgbClr>
            </a:gs>
            <a:gs pos="50000">
              <a:srgbClr val="0A16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61028">
            <a:off x="763428" y="3228895"/>
            <a:ext cx="1043974" cy="941475"/>
          </a:xfrm>
          <a:custGeom>
            <a:avLst/>
            <a:gdLst/>
            <a:ahLst/>
            <a:cxnLst/>
            <a:rect r="r" b="b" t="t" l="l"/>
            <a:pathLst>
              <a:path h="941475" w="1043974">
                <a:moveTo>
                  <a:pt x="0" y="0"/>
                </a:moveTo>
                <a:lnTo>
                  <a:pt x="1043974" y="0"/>
                </a:lnTo>
                <a:lnTo>
                  <a:pt x="1043974" y="941475"/>
                </a:lnTo>
                <a:lnTo>
                  <a:pt x="0" y="94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72164" y="248577"/>
            <a:ext cx="3446328" cy="1560247"/>
          </a:xfrm>
          <a:custGeom>
            <a:avLst/>
            <a:gdLst/>
            <a:ahLst/>
            <a:cxnLst/>
            <a:rect r="r" b="b" t="t" l="l"/>
            <a:pathLst>
              <a:path h="1560247" w="3446328">
                <a:moveTo>
                  <a:pt x="0" y="0"/>
                </a:moveTo>
                <a:lnTo>
                  <a:pt x="3446328" y="0"/>
                </a:lnTo>
                <a:lnTo>
                  <a:pt x="3446328" y="1560246"/>
                </a:lnTo>
                <a:lnTo>
                  <a:pt x="0" y="1560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9855">
            <a:off x="16801475" y="493047"/>
            <a:ext cx="1071306" cy="1071306"/>
          </a:xfrm>
          <a:custGeom>
            <a:avLst/>
            <a:gdLst/>
            <a:ahLst/>
            <a:cxnLst/>
            <a:rect r="r" b="b" t="t" l="l"/>
            <a:pathLst>
              <a:path h="1071306" w="1071306">
                <a:moveTo>
                  <a:pt x="0" y="0"/>
                </a:moveTo>
                <a:lnTo>
                  <a:pt x="1071306" y="0"/>
                </a:lnTo>
                <a:lnTo>
                  <a:pt x="1071306" y="1071306"/>
                </a:lnTo>
                <a:lnTo>
                  <a:pt x="0" y="1071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60024">
            <a:off x="17365561" y="4861390"/>
            <a:ext cx="1279901" cy="991342"/>
          </a:xfrm>
          <a:custGeom>
            <a:avLst/>
            <a:gdLst/>
            <a:ahLst/>
            <a:cxnLst/>
            <a:rect r="r" b="b" t="t" l="l"/>
            <a:pathLst>
              <a:path h="991342" w="1279901">
                <a:moveTo>
                  <a:pt x="0" y="0"/>
                </a:moveTo>
                <a:lnTo>
                  <a:pt x="1279901" y="0"/>
                </a:lnTo>
                <a:lnTo>
                  <a:pt x="1279901" y="991342"/>
                </a:lnTo>
                <a:lnTo>
                  <a:pt x="0" y="9913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22281" y="8801452"/>
            <a:ext cx="941745" cy="941745"/>
          </a:xfrm>
          <a:custGeom>
            <a:avLst/>
            <a:gdLst/>
            <a:ahLst/>
            <a:cxnLst/>
            <a:rect r="r" b="b" t="t" l="l"/>
            <a:pathLst>
              <a:path h="941745" w="941745">
                <a:moveTo>
                  <a:pt x="0" y="0"/>
                </a:moveTo>
                <a:lnTo>
                  <a:pt x="941744" y="0"/>
                </a:lnTo>
                <a:lnTo>
                  <a:pt x="941744" y="941745"/>
                </a:lnTo>
                <a:lnTo>
                  <a:pt x="0" y="9417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3387" y="8409525"/>
            <a:ext cx="1703860" cy="1175833"/>
            <a:chOff x="0" y="0"/>
            <a:chExt cx="2271813" cy="15677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6619" y="27601"/>
              <a:ext cx="2145194" cy="1540177"/>
            </a:xfrm>
            <a:custGeom>
              <a:avLst/>
              <a:gdLst/>
              <a:ahLst/>
              <a:cxnLst/>
              <a:rect r="r" b="b" t="t" l="l"/>
              <a:pathLst>
                <a:path h="1540177" w="2145194">
                  <a:moveTo>
                    <a:pt x="0" y="0"/>
                  </a:moveTo>
                  <a:lnTo>
                    <a:pt x="2145194" y="0"/>
                  </a:lnTo>
                  <a:lnTo>
                    <a:pt x="2145194" y="1540177"/>
                  </a:lnTo>
                  <a:lnTo>
                    <a:pt x="0" y="1540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194" cy="1540177"/>
            </a:xfrm>
            <a:custGeom>
              <a:avLst/>
              <a:gdLst/>
              <a:ahLst/>
              <a:cxnLst/>
              <a:rect r="r" b="b" t="t" l="l"/>
              <a:pathLst>
                <a:path h="1540177" w="2145194">
                  <a:moveTo>
                    <a:pt x="0" y="0"/>
                  </a:moveTo>
                  <a:lnTo>
                    <a:pt x="2145194" y="0"/>
                  </a:lnTo>
                  <a:lnTo>
                    <a:pt x="2145194" y="1540177"/>
                  </a:lnTo>
                  <a:lnTo>
                    <a:pt x="0" y="1540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560262" y="2653380"/>
            <a:ext cx="2890501" cy="1308608"/>
          </a:xfrm>
          <a:custGeom>
            <a:avLst/>
            <a:gdLst/>
            <a:ahLst/>
            <a:cxnLst/>
            <a:rect r="r" b="b" t="t" l="l"/>
            <a:pathLst>
              <a:path h="1308608" w="2890501">
                <a:moveTo>
                  <a:pt x="0" y="0"/>
                </a:moveTo>
                <a:lnTo>
                  <a:pt x="2890500" y="0"/>
                </a:lnTo>
                <a:lnTo>
                  <a:pt x="2890500" y="1308609"/>
                </a:lnTo>
                <a:lnTo>
                  <a:pt x="0" y="1308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124272">
            <a:off x="537986" y="6052764"/>
            <a:ext cx="981429" cy="981429"/>
          </a:xfrm>
          <a:custGeom>
            <a:avLst/>
            <a:gdLst/>
            <a:ahLst/>
            <a:cxnLst/>
            <a:rect r="r" b="b" t="t" l="l"/>
            <a:pathLst>
              <a:path h="981429" w="981429">
                <a:moveTo>
                  <a:pt x="0" y="0"/>
                </a:moveTo>
                <a:lnTo>
                  <a:pt x="981428" y="0"/>
                </a:lnTo>
                <a:lnTo>
                  <a:pt x="981428" y="981429"/>
                </a:lnTo>
                <a:lnTo>
                  <a:pt x="0" y="98142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700000">
            <a:off x="13311101" y="8845264"/>
            <a:ext cx="910297" cy="854120"/>
          </a:xfrm>
          <a:custGeom>
            <a:avLst/>
            <a:gdLst/>
            <a:ahLst/>
            <a:cxnLst/>
            <a:rect r="r" b="b" t="t" l="l"/>
            <a:pathLst>
              <a:path h="854120" w="910297">
                <a:moveTo>
                  <a:pt x="0" y="0"/>
                </a:moveTo>
                <a:lnTo>
                  <a:pt x="910297" y="0"/>
                </a:lnTo>
                <a:lnTo>
                  <a:pt x="910297" y="854120"/>
                </a:lnTo>
                <a:lnTo>
                  <a:pt x="0" y="85412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381758" r="-352028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700000">
            <a:off x="2519016" y="9158298"/>
            <a:ext cx="910297" cy="854120"/>
          </a:xfrm>
          <a:custGeom>
            <a:avLst/>
            <a:gdLst/>
            <a:ahLst/>
            <a:cxnLst/>
            <a:rect r="r" b="b" t="t" l="l"/>
            <a:pathLst>
              <a:path h="854120" w="910297">
                <a:moveTo>
                  <a:pt x="0" y="0"/>
                </a:moveTo>
                <a:lnTo>
                  <a:pt x="910297" y="0"/>
                </a:lnTo>
                <a:lnTo>
                  <a:pt x="910297" y="854120"/>
                </a:lnTo>
                <a:lnTo>
                  <a:pt x="0" y="85412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381758" r="-352028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97980" y="201773"/>
            <a:ext cx="11638981" cy="175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0"/>
              </a:lnSpc>
              <a:spcBef>
                <a:spcPct val="0"/>
              </a:spcBef>
            </a:pPr>
            <a:r>
              <a:rPr lang="en-US" sz="5035" strike="noStrike" u="none">
                <a:solidFill>
                  <a:srgbClr val="A1E5D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PROBLEM STATEMENT</a:t>
            </a:r>
          </a:p>
          <a:p>
            <a:pPr algn="ctr" marL="0" indent="0" lvl="0">
              <a:lnSpc>
                <a:spcPts val="705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851687" y="1643306"/>
            <a:ext cx="11375529" cy="189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0"/>
              </a:lnSpc>
              <a:spcBef>
                <a:spcPct val="0"/>
              </a:spcBef>
            </a:pPr>
            <a:r>
              <a:rPr lang="en-US" sz="2714" strike="noStrike" u="none">
                <a:solidFill>
                  <a:srgbClr val="FB638D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WE MAKE CHOICES EVERY DAY, BUT WE</a:t>
            </a:r>
          </a:p>
          <a:p>
            <a:pPr algn="ctr" marL="0" indent="0" lvl="0">
              <a:lnSpc>
                <a:spcPts val="3800"/>
              </a:lnSpc>
              <a:spcBef>
                <a:spcPct val="0"/>
              </a:spcBef>
            </a:pPr>
            <a:r>
              <a:rPr lang="en-US" sz="2714" strike="noStrike" u="none">
                <a:solidFill>
                  <a:srgbClr val="FB638D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CAN'T ALWAYS</a:t>
            </a:r>
          </a:p>
          <a:p>
            <a:pPr algn="ctr" marL="0" indent="0" lvl="0">
              <a:lnSpc>
                <a:spcPts val="3800"/>
              </a:lnSpc>
              <a:spcBef>
                <a:spcPct val="0"/>
              </a:spcBef>
            </a:pPr>
            <a:r>
              <a:rPr lang="en-US" sz="2714" strike="noStrike" u="none">
                <a:solidFill>
                  <a:srgbClr val="FB638D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SEE WHERE EACH CHOICE </a:t>
            </a:r>
          </a:p>
          <a:p>
            <a:pPr algn="ctr" marL="0" indent="0" lvl="0">
              <a:lnSpc>
                <a:spcPts val="3800"/>
              </a:lnSpc>
              <a:spcBef>
                <a:spcPct val="0"/>
              </a:spcBef>
            </a:pPr>
            <a:r>
              <a:rPr lang="en-US" sz="2714" strike="noStrike" u="none">
                <a:solidFill>
                  <a:srgbClr val="FB638D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MIGHT LEAD.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89899" y="4322697"/>
            <a:ext cx="11708201" cy="1407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93"/>
              </a:lnSpc>
              <a:spcBef>
                <a:spcPct val="0"/>
              </a:spcBef>
            </a:pPr>
            <a:r>
              <a:rPr lang="en-US" sz="2709" strike="noStrike" u="none">
                <a:solidFill>
                  <a:srgbClr val="E17EE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CHOOSE YOUR CHAOS HELPS YOU EXPLORE DIFFERENT POSSIBILITIES BEFORE MAKING A DECISION.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10779" y="6377938"/>
            <a:ext cx="15029646" cy="188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93"/>
              </a:lnSpc>
              <a:spcBef>
                <a:spcPct val="0"/>
              </a:spcBef>
            </a:pPr>
            <a:r>
              <a:rPr lang="en-US" sz="2709">
                <a:solidFill>
                  <a:srgbClr val="FFDE59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CHOOSE YOUR CHAOS</a:t>
            </a:r>
            <a:r>
              <a:rPr lang="en-US" sz="2709" strike="noStrike" u="none">
                <a:solidFill>
                  <a:srgbClr val="FFDE59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IS AN AI-POWERED PERSONAL DECISION SIMULATOR THAT ALLOWS USERS TO EXPLORE MULTIPLE POSSIBLE OUTCOMES OF A DECISION BEFORE ACTUALLY MAKING IT.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670">
                <a:alpha val="100000"/>
              </a:srgbClr>
            </a:gs>
            <a:gs pos="50000">
              <a:srgbClr val="0A16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61028">
            <a:off x="763428" y="3228895"/>
            <a:ext cx="1043974" cy="941475"/>
          </a:xfrm>
          <a:custGeom>
            <a:avLst/>
            <a:gdLst/>
            <a:ahLst/>
            <a:cxnLst/>
            <a:rect r="r" b="b" t="t" l="l"/>
            <a:pathLst>
              <a:path h="941475" w="1043974">
                <a:moveTo>
                  <a:pt x="0" y="0"/>
                </a:moveTo>
                <a:lnTo>
                  <a:pt x="1043974" y="0"/>
                </a:lnTo>
                <a:lnTo>
                  <a:pt x="1043974" y="941475"/>
                </a:lnTo>
                <a:lnTo>
                  <a:pt x="0" y="94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72164" y="248577"/>
            <a:ext cx="3446328" cy="1560247"/>
          </a:xfrm>
          <a:custGeom>
            <a:avLst/>
            <a:gdLst/>
            <a:ahLst/>
            <a:cxnLst/>
            <a:rect r="r" b="b" t="t" l="l"/>
            <a:pathLst>
              <a:path h="1560247" w="3446328">
                <a:moveTo>
                  <a:pt x="0" y="0"/>
                </a:moveTo>
                <a:lnTo>
                  <a:pt x="3446328" y="0"/>
                </a:lnTo>
                <a:lnTo>
                  <a:pt x="3446328" y="1560246"/>
                </a:lnTo>
                <a:lnTo>
                  <a:pt x="0" y="1560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9855">
            <a:off x="16801475" y="493047"/>
            <a:ext cx="1071306" cy="1071306"/>
          </a:xfrm>
          <a:custGeom>
            <a:avLst/>
            <a:gdLst/>
            <a:ahLst/>
            <a:cxnLst/>
            <a:rect r="r" b="b" t="t" l="l"/>
            <a:pathLst>
              <a:path h="1071306" w="1071306">
                <a:moveTo>
                  <a:pt x="0" y="0"/>
                </a:moveTo>
                <a:lnTo>
                  <a:pt x="1071306" y="0"/>
                </a:lnTo>
                <a:lnTo>
                  <a:pt x="1071306" y="1071306"/>
                </a:lnTo>
                <a:lnTo>
                  <a:pt x="0" y="1071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60024">
            <a:off x="17365561" y="4861390"/>
            <a:ext cx="1279901" cy="991342"/>
          </a:xfrm>
          <a:custGeom>
            <a:avLst/>
            <a:gdLst/>
            <a:ahLst/>
            <a:cxnLst/>
            <a:rect r="r" b="b" t="t" l="l"/>
            <a:pathLst>
              <a:path h="991342" w="1279901">
                <a:moveTo>
                  <a:pt x="0" y="0"/>
                </a:moveTo>
                <a:lnTo>
                  <a:pt x="1279901" y="0"/>
                </a:lnTo>
                <a:lnTo>
                  <a:pt x="1279901" y="991342"/>
                </a:lnTo>
                <a:lnTo>
                  <a:pt x="0" y="9913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41289">
            <a:off x="187695" y="4762385"/>
            <a:ext cx="1509734" cy="1922115"/>
          </a:xfrm>
          <a:custGeom>
            <a:avLst/>
            <a:gdLst/>
            <a:ahLst/>
            <a:cxnLst/>
            <a:rect r="r" b="b" t="t" l="l"/>
            <a:pathLst>
              <a:path h="1922115" w="1509734">
                <a:moveTo>
                  <a:pt x="0" y="0"/>
                </a:moveTo>
                <a:lnTo>
                  <a:pt x="1509734" y="0"/>
                </a:lnTo>
                <a:lnTo>
                  <a:pt x="1509734" y="1922115"/>
                </a:lnTo>
                <a:lnTo>
                  <a:pt x="0" y="19221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68204" y="7752949"/>
            <a:ext cx="941745" cy="941745"/>
          </a:xfrm>
          <a:custGeom>
            <a:avLst/>
            <a:gdLst/>
            <a:ahLst/>
            <a:cxnLst/>
            <a:rect r="r" b="b" t="t" l="l"/>
            <a:pathLst>
              <a:path h="941745" w="941745">
                <a:moveTo>
                  <a:pt x="0" y="0"/>
                </a:moveTo>
                <a:lnTo>
                  <a:pt x="941744" y="0"/>
                </a:lnTo>
                <a:lnTo>
                  <a:pt x="941744" y="941745"/>
                </a:lnTo>
                <a:lnTo>
                  <a:pt x="0" y="9417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83387" y="8409525"/>
            <a:ext cx="1703860" cy="1175833"/>
            <a:chOff x="0" y="0"/>
            <a:chExt cx="2271813" cy="15677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6619" y="27601"/>
              <a:ext cx="2145194" cy="1540177"/>
            </a:xfrm>
            <a:custGeom>
              <a:avLst/>
              <a:gdLst/>
              <a:ahLst/>
              <a:cxnLst/>
              <a:rect r="r" b="b" t="t" l="l"/>
              <a:pathLst>
                <a:path h="1540177" w="2145194">
                  <a:moveTo>
                    <a:pt x="0" y="0"/>
                  </a:moveTo>
                  <a:lnTo>
                    <a:pt x="2145194" y="0"/>
                  </a:lnTo>
                  <a:lnTo>
                    <a:pt x="2145194" y="1540177"/>
                  </a:lnTo>
                  <a:lnTo>
                    <a:pt x="0" y="1540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194" cy="1540177"/>
            </a:xfrm>
            <a:custGeom>
              <a:avLst/>
              <a:gdLst/>
              <a:ahLst/>
              <a:cxnLst/>
              <a:rect r="r" b="b" t="t" l="l"/>
              <a:pathLst>
                <a:path h="1540177" w="2145194">
                  <a:moveTo>
                    <a:pt x="0" y="0"/>
                  </a:moveTo>
                  <a:lnTo>
                    <a:pt x="2145194" y="0"/>
                  </a:lnTo>
                  <a:lnTo>
                    <a:pt x="2145194" y="1540177"/>
                  </a:lnTo>
                  <a:lnTo>
                    <a:pt x="0" y="1540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6560262" y="2653380"/>
            <a:ext cx="2890501" cy="1308608"/>
          </a:xfrm>
          <a:custGeom>
            <a:avLst/>
            <a:gdLst/>
            <a:ahLst/>
            <a:cxnLst/>
            <a:rect r="r" b="b" t="t" l="l"/>
            <a:pathLst>
              <a:path h="1308608" w="2890501">
                <a:moveTo>
                  <a:pt x="0" y="0"/>
                </a:moveTo>
                <a:lnTo>
                  <a:pt x="2890500" y="0"/>
                </a:lnTo>
                <a:lnTo>
                  <a:pt x="2890500" y="1308609"/>
                </a:lnTo>
                <a:lnTo>
                  <a:pt x="0" y="1308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124272">
            <a:off x="1074190" y="6572006"/>
            <a:ext cx="981429" cy="981429"/>
          </a:xfrm>
          <a:custGeom>
            <a:avLst/>
            <a:gdLst/>
            <a:ahLst/>
            <a:cxnLst/>
            <a:rect r="r" b="b" t="t" l="l"/>
            <a:pathLst>
              <a:path h="981429" w="981429">
                <a:moveTo>
                  <a:pt x="0" y="0"/>
                </a:moveTo>
                <a:lnTo>
                  <a:pt x="981429" y="0"/>
                </a:lnTo>
                <a:lnTo>
                  <a:pt x="981429" y="981429"/>
                </a:lnTo>
                <a:lnTo>
                  <a:pt x="0" y="98142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700000">
            <a:off x="13311101" y="8845264"/>
            <a:ext cx="910297" cy="854120"/>
          </a:xfrm>
          <a:custGeom>
            <a:avLst/>
            <a:gdLst/>
            <a:ahLst/>
            <a:cxnLst/>
            <a:rect r="r" b="b" t="t" l="l"/>
            <a:pathLst>
              <a:path h="854120" w="910297">
                <a:moveTo>
                  <a:pt x="0" y="0"/>
                </a:moveTo>
                <a:lnTo>
                  <a:pt x="910297" y="0"/>
                </a:lnTo>
                <a:lnTo>
                  <a:pt x="910297" y="854120"/>
                </a:lnTo>
                <a:lnTo>
                  <a:pt x="0" y="85412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-381758" r="-352028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2700000">
            <a:off x="2519016" y="9158298"/>
            <a:ext cx="910297" cy="854120"/>
          </a:xfrm>
          <a:custGeom>
            <a:avLst/>
            <a:gdLst/>
            <a:ahLst/>
            <a:cxnLst/>
            <a:rect r="r" b="b" t="t" l="l"/>
            <a:pathLst>
              <a:path h="854120" w="910297">
                <a:moveTo>
                  <a:pt x="0" y="0"/>
                </a:moveTo>
                <a:lnTo>
                  <a:pt x="910297" y="0"/>
                </a:lnTo>
                <a:lnTo>
                  <a:pt x="910297" y="854120"/>
                </a:lnTo>
                <a:lnTo>
                  <a:pt x="0" y="85412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-381758" r="-35202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222283" y="3396177"/>
            <a:ext cx="2921717" cy="3921767"/>
          </a:xfrm>
          <a:custGeom>
            <a:avLst/>
            <a:gdLst/>
            <a:ahLst/>
            <a:cxnLst/>
            <a:rect r="r" b="b" t="t" l="l"/>
            <a:pathLst>
              <a:path h="3921767" w="2921717">
                <a:moveTo>
                  <a:pt x="0" y="0"/>
                </a:moveTo>
                <a:lnTo>
                  <a:pt x="2921717" y="0"/>
                </a:lnTo>
                <a:lnTo>
                  <a:pt x="2921717" y="3921768"/>
                </a:lnTo>
                <a:lnTo>
                  <a:pt x="0" y="392176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144000" y="3578593"/>
            <a:ext cx="3556935" cy="3556935"/>
          </a:xfrm>
          <a:custGeom>
            <a:avLst/>
            <a:gdLst/>
            <a:ahLst/>
            <a:cxnLst/>
            <a:rect r="r" b="b" t="t" l="l"/>
            <a:pathLst>
              <a:path h="3556935" w="3556935">
                <a:moveTo>
                  <a:pt x="0" y="0"/>
                </a:moveTo>
                <a:lnTo>
                  <a:pt x="3556935" y="0"/>
                </a:lnTo>
                <a:lnTo>
                  <a:pt x="3556935" y="3556936"/>
                </a:lnTo>
                <a:lnTo>
                  <a:pt x="0" y="355693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246942" y="338639"/>
            <a:ext cx="5012358" cy="3057538"/>
          </a:xfrm>
          <a:custGeom>
            <a:avLst/>
            <a:gdLst/>
            <a:ahLst/>
            <a:cxnLst/>
            <a:rect r="r" b="b" t="t" l="l"/>
            <a:pathLst>
              <a:path h="3057538" w="5012358">
                <a:moveTo>
                  <a:pt x="0" y="0"/>
                </a:moveTo>
                <a:lnTo>
                  <a:pt x="5012358" y="0"/>
                </a:lnTo>
                <a:lnTo>
                  <a:pt x="5012358" y="3057538"/>
                </a:lnTo>
                <a:lnTo>
                  <a:pt x="0" y="305753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ysDot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2906496" y="4082084"/>
            <a:ext cx="5381504" cy="3282718"/>
          </a:xfrm>
          <a:custGeom>
            <a:avLst/>
            <a:gdLst/>
            <a:ahLst/>
            <a:cxnLst/>
            <a:rect r="r" b="b" t="t" l="l"/>
            <a:pathLst>
              <a:path h="3282718" w="5381504">
                <a:moveTo>
                  <a:pt x="0" y="0"/>
                </a:moveTo>
                <a:lnTo>
                  <a:pt x="5381504" y="0"/>
                </a:lnTo>
                <a:lnTo>
                  <a:pt x="5381504" y="3282717"/>
                </a:lnTo>
                <a:lnTo>
                  <a:pt x="0" y="328271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827253" y="6792705"/>
            <a:ext cx="5315181" cy="3242260"/>
          </a:xfrm>
          <a:custGeom>
            <a:avLst/>
            <a:gdLst/>
            <a:ahLst/>
            <a:cxnLst/>
            <a:rect r="r" b="b" t="t" l="l"/>
            <a:pathLst>
              <a:path h="3242260" w="5315181">
                <a:moveTo>
                  <a:pt x="0" y="0"/>
                </a:moveTo>
                <a:lnTo>
                  <a:pt x="5315181" y="0"/>
                </a:lnTo>
                <a:lnTo>
                  <a:pt x="5315181" y="3242261"/>
                </a:lnTo>
                <a:lnTo>
                  <a:pt x="0" y="324226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58399" y="5133635"/>
            <a:ext cx="4884148" cy="2979330"/>
          </a:xfrm>
          <a:custGeom>
            <a:avLst/>
            <a:gdLst/>
            <a:ahLst/>
            <a:cxnLst/>
            <a:rect r="r" b="b" t="t" l="l"/>
            <a:pathLst>
              <a:path h="2979330" w="4884148">
                <a:moveTo>
                  <a:pt x="0" y="0"/>
                </a:moveTo>
                <a:lnTo>
                  <a:pt x="4884148" y="0"/>
                </a:lnTo>
                <a:lnTo>
                  <a:pt x="4884148" y="2979330"/>
                </a:lnTo>
                <a:lnTo>
                  <a:pt x="0" y="297933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64904" y="1339828"/>
            <a:ext cx="4828245" cy="2945229"/>
          </a:xfrm>
          <a:custGeom>
            <a:avLst/>
            <a:gdLst/>
            <a:ahLst/>
            <a:cxnLst/>
            <a:rect r="r" b="b" t="t" l="l"/>
            <a:pathLst>
              <a:path h="2945229" w="4828245">
                <a:moveTo>
                  <a:pt x="0" y="0"/>
                </a:moveTo>
                <a:lnTo>
                  <a:pt x="4828245" y="0"/>
                </a:lnTo>
                <a:lnTo>
                  <a:pt x="4828245" y="2945229"/>
                </a:lnTo>
                <a:lnTo>
                  <a:pt x="0" y="294522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281156" y="484084"/>
            <a:ext cx="4311677" cy="2630123"/>
          </a:xfrm>
          <a:custGeom>
            <a:avLst/>
            <a:gdLst/>
            <a:ahLst/>
            <a:cxnLst/>
            <a:rect r="r" b="b" t="t" l="l"/>
            <a:pathLst>
              <a:path h="2630123" w="4311677">
                <a:moveTo>
                  <a:pt x="0" y="0"/>
                </a:moveTo>
                <a:lnTo>
                  <a:pt x="4311677" y="0"/>
                </a:lnTo>
                <a:lnTo>
                  <a:pt x="4311677" y="2630123"/>
                </a:lnTo>
                <a:lnTo>
                  <a:pt x="0" y="263012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045841" y="1454699"/>
            <a:ext cx="8782308" cy="59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2"/>
              </a:lnSpc>
            </a:pPr>
            <a:r>
              <a:rPr lang="en-US" sz="246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SHOULD I STUDY</a:t>
            </a:r>
          </a:p>
          <a:p>
            <a:pPr algn="ctr">
              <a:lnSpc>
                <a:spcPts val="2222"/>
              </a:lnSpc>
            </a:pPr>
            <a:r>
              <a:rPr lang="en-US" sz="246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OR GO OUT?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70756" y="1316587"/>
            <a:ext cx="5104091" cy="87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2"/>
              </a:lnSpc>
            </a:pPr>
            <a:r>
              <a:rPr lang="en-US" sz="246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SHOULD I TAKE THE</a:t>
            </a:r>
          </a:p>
          <a:p>
            <a:pPr algn="ctr">
              <a:lnSpc>
                <a:spcPts val="2222"/>
              </a:lnSpc>
            </a:pPr>
            <a:r>
              <a:rPr lang="en-US" sz="246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CHEAPER ROUTE</a:t>
            </a:r>
          </a:p>
          <a:p>
            <a:pPr algn="ctr">
              <a:lnSpc>
                <a:spcPts val="2222"/>
              </a:lnSpc>
            </a:pPr>
            <a:r>
              <a:rPr lang="en-US" sz="246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OR FASTER ONE 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92067" y="5218039"/>
            <a:ext cx="4913445" cy="85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247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I AM NOT ABLE TO </a:t>
            </a:r>
          </a:p>
          <a:p>
            <a:pPr algn="ctr">
              <a:lnSpc>
                <a:spcPts val="2139"/>
              </a:lnSpc>
            </a:pPr>
            <a:r>
              <a:rPr lang="en-US" sz="2377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MANAGE MY TIME FOR PLAYING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27253" y="8000070"/>
            <a:ext cx="5104091" cy="87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2"/>
              </a:lnSpc>
            </a:pPr>
            <a:r>
              <a:rPr lang="en-US" sz="246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WHAT HAPPENS IF I </a:t>
            </a:r>
          </a:p>
          <a:p>
            <a:pPr algn="ctr">
              <a:lnSpc>
                <a:spcPts val="2222"/>
              </a:lnSpc>
            </a:pPr>
            <a:r>
              <a:rPr lang="en-US" sz="246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LEAVE 30 MINUTES</a:t>
            </a:r>
          </a:p>
          <a:p>
            <a:pPr algn="ctr">
              <a:lnSpc>
                <a:spcPts val="2222"/>
              </a:lnSpc>
            </a:pPr>
            <a:r>
              <a:rPr lang="en-US" sz="246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LATER?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87246" y="6239827"/>
            <a:ext cx="3754607" cy="59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2"/>
              </a:lnSpc>
            </a:pPr>
            <a:r>
              <a:rPr lang="en-US" sz="246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WHAT HAPPENS IF</a:t>
            </a:r>
          </a:p>
          <a:p>
            <a:pPr algn="ctr">
              <a:lnSpc>
                <a:spcPts val="2222"/>
              </a:lnSpc>
            </a:pPr>
            <a:r>
              <a:rPr lang="en-US" sz="246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I CHOOSE THIS?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64904" y="2239630"/>
            <a:ext cx="4541264" cy="87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2"/>
              </a:lnSpc>
            </a:pPr>
            <a:r>
              <a:rPr lang="en-US" sz="246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I AM NOT LEFT </a:t>
            </a:r>
          </a:p>
          <a:p>
            <a:pPr algn="ctr">
              <a:lnSpc>
                <a:spcPts val="2222"/>
              </a:lnSpc>
            </a:pPr>
            <a:r>
              <a:rPr lang="en-US" sz="246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WITH TIME</a:t>
            </a:r>
          </a:p>
          <a:p>
            <a:pPr algn="ctr">
              <a:lnSpc>
                <a:spcPts val="2222"/>
              </a:lnSpc>
            </a:pPr>
            <a:r>
              <a:rPr lang="en-US" sz="246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FOR HOMEWORK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670">
                <a:alpha val="100000"/>
              </a:srgbClr>
            </a:gs>
            <a:gs pos="50000">
              <a:srgbClr val="0A16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2164" y="248577"/>
            <a:ext cx="3446328" cy="1560247"/>
          </a:xfrm>
          <a:custGeom>
            <a:avLst/>
            <a:gdLst/>
            <a:ahLst/>
            <a:cxnLst/>
            <a:rect r="r" b="b" t="t" l="l"/>
            <a:pathLst>
              <a:path h="1560247" w="3446328">
                <a:moveTo>
                  <a:pt x="0" y="0"/>
                </a:moveTo>
                <a:lnTo>
                  <a:pt x="3446328" y="0"/>
                </a:lnTo>
                <a:lnTo>
                  <a:pt x="3446328" y="1560246"/>
                </a:lnTo>
                <a:lnTo>
                  <a:pt x="0" y="1560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59855">
            <a:off x="16801475" y="493047"/>
            <a:ext cx="1071306" cy="1071306"/>
          </a:xfrm>
          <a:custGeom>
            <a:avLst/>
            <a:gdLst/>
            <a:ahLst/>
            <a:cxnLst/>
            <a:rect r="r" b="b" t="t" l="l"/>
            <a:pathLst>
              <a:path h="1071306" w="1071306">
                <a:moveTo>
                  <a:pt x="0" y="0"/>
                </a:moveTo>
                <a:lnTo>
                  <a:pt x="1071306" y="0"/>
                </a:lnTo>
                <a:lnTo>
                  <a:pt x="1071306" y="1071306"/>
                </a:lnTo>
                <a:lnTo>
                  <a:pt x="0" y="1071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60024">
            <a:off x="17365561" y="4861390"/>
            <a:ext cx="1279901" cy="991342"/>
          </a:xfrm>
          <a:custGeom>
            <a:avLst/>
            <a:gdLst/>
            <a:ahLst/>
            <a:cxnLst/>
            <a:rect r="r" b="b" t="t" l="l"/>
            <a:pathLst>
              <a:path h="991342" w="1279901">
                <a:moveTo>
                  <a:pt x="0" y="0"/>
                </a:moveTo>
                <a:lnTo>
                  <a:pt x="1279901" y="0"/>
                </a:lnTo>
                <a:lnTo>
                  <a:pt x="1279901" y="991342"/>
                </a:lnTo>
                <a:lnTo>
                  <a:pt x="0" y="9913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41289">
            <a:off x="187695" y="4762385"/>
            <a:ext cx="1509734" cy="1922115"/>
          </a:xfrm>
          <a:custGeom>
            <a:avLst/>
            <a:gdLst/>
            <a:ahLst/>
            <a:cxnLst/>
            <a:rect r="r" b="b" t="t" l="l"/>
            <a:pathLst>
              <a:path h="1922115" w="1509734">
                <a:moveTo>
                  <a:pt x="0" y="0"/>
                </a:moveTo>
                <a:lnTo>
                  <a:pt x="1509734" y="0"/>
                </a:lnTo>
                <a:lnTo>
                  <a:pt x="1509734" y="1922115"/>
                </a:lnTo>
                <a:lnTo>
                  <a:pt x="0" y="19221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68204" y="7752949"/>
            <a:ext cx="941745" cy="941745"/>
          </a:xfrm>
          <a:custGeom>
            <a:avLst/>
            <a:gdLst/>
            <a:ahLst/>
            <a:cxnLst/>
            <a:rect r="r" b="b" t="t" l="l"/>
            <a:pathLst>
              <a:path h="941745" w="941745">
                <a:moveTo>
                  <a:pt x="0" y="0"/>
                </a:moveTo>
                <a:lnTo>
                  <a:pt x="941744" y="0"/>
                </a:lnTo>
                <a:lnTo>
                  <a:pt x="941744" y="941745"/>
                </a:lnTo>
                <a:lnTo>
                  <a:pt x="0" y="9417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3387" y="8409525"/>
            <a:ext cx="1703860" cy="1175833"/>
            <a:chOff x="0" y="0"/>
            <a:chExt cx="2271813" cy="15677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6619" y="27601"/>
              <a:ext cx="2145194" cy="1540177"/>
            </a:xfrm>
            <a:custGeom>
              <a:avLst/>
              <a:gdLst/>
              <a:ahLst/>
              <a:cxnLst/>
              <a:rect r="r" b="b" t="t" l="l"/>
              <a:pathLst>
                <a:path h="1540177" w="2145194">
                  <a:moveTo>
                    <a:pt x="0" y="0"/>
                  </a:moveTo>
                  <a:lnTo>
                    <a:pt x="2145194" y="0"/>
                  </a:lnTo>
                  <a:lnTo>
                    <a:pt x="2145194" y="1540177"/>
                  </a:lnTo>
                  <a:lnTo>
                    <a:pt x="0" y="1540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194" cy="1540177"/>
            </a:xfrm>
            <a:custGeom>
              <a:avLst/>
              <a:gdLst/>
              <a:ahLst/>
              <a:cxnLst/>
              <a:rect r="r" b="b" t="t" l="l"/>
              <a:pathLst>
                <a:path h="1540177" w="2145194">
                  <a:moveTo>
                    <a:pt x="0" y="0"/>
                  </a:moveTo>
                  <a:lnTo>
                    <a:pt x="2145194" y="0"/>
                  </a:lnTo>
                  <a:lnTo>
                    <a:pt x="2145194" y="1540177"/>
                  </a:lnTo>
                  <a:lnTo>
                    <a:pt x="0" y="1540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124272">
            <a:off x="1074190" y="6572006"/>
            <a:ext cx="981429" cy="981429"/>
          </a:xfrm>
          <a:custGeom>
            <a:avLst/>
            <a:gdLst/>
            <a:ahLst/>
            <a:cxnLst/>
            <a:rect r="r" b="b" t="t" l="l"/>
            <a:pathLst>
              <a:path h="981429" w="981429">
                <a:moveTo>
                  <a:pt x="0" y="0"/>
                </a:moveTo>
                <a:lnTo>
                  <a:pt x="981429" y="0"/>
                </a:lnTo>
                <a:lnTo>
                  <a:pt x="981429" y="981429"/>
                </a:lnTo>
                <a:lnTo>
                  <a:pt x="0" y="98142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31495" y="3560825"/>
            <a:ext cx="12302611" cy="307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1"/>
              </a:lnSpc>
            </a:pPr>
            <a:r>
              <a:rPr lang="en-US" sz="437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The problem isn't always finding the best answer. Sometimes, it's understanding the consequences of every possible answer</a:t>
            </a:r>
            <a:r>
              <a:rPr lang="en-US" sz="4379">
                <a:solidFill>
                  <a:srgbClr val="FFFF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54244" y="1218756"/>
            <a:ext cx="11657112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399">
                <a:solidFill>
                  <a:srgbClr val="A1E5D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PROPOSED SOLUTION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670">
                <a:alpha val="100000"/>
              </a:srgbClr>
            </a:gs>
            <a:gs pos="50000">
              <a:srgbClr val="0A16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6081" y="-591518"/>
            <a:ext cx="3446328" cy="1560247"/>
          </a:xfrm>
          <a:custGeom>
            <a:avLst/>
            <a:gdLst/>
            <a:ahLst/>
            <a:cxnLst/>
            <a:rect r="r" b="b" t="t" l="l"/>
            <a:pathLst>
              <a:path h="1560247" w="3446328">
                <a:moveTo>
                  <a:pt x="0" y="0"/>
                </a:moveTo>
                <a:lnTo>
                  <a:pt x="3446328" y="0"/>
                </a:lnTo>
                <a:lnTo>
                  <a:pt x="3446328" y="1560246"/>
                </a:lnTo>
                <a:lnTo>
                  <a:pt x="0" y="1560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59855">
            <a:off x="16801475" y="493047"/>
            <a:ext cx="1071306" cy="1071306"/>
          </a:xfrm>
          <a:custGeom>
            <a:avLst/>
            <a:gdLst/>
            <a:ahLst/>
            <a:cxnLst/>
            <a:rect r="r" b="b" t="t" l="l"/>
            <a:pathLst>
              <a:path h="1071306" w="1071306">
                <a:moveTo>
                  <a:pt x="0" y="0"/>
                </a:moveTo>
                <a:lnTo>
                  <a:pt x="1071306" y="0"/>
                </a:lnTo>
                <a:lnTo>
                  <a:pt x="1071306" y="1071306"/>
                </a:lnTo>
                <a:lnTo>
                  <a:pt x="0" y="1071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60024">
            <a:off x="17365561" y="4861390"/>
            <a:ext cx="1279901" cy="991342"/>
          </a:xfrm>
          <a:custGeom>
            <a:avLst/>
            <a:gdLst/>
            <a:ahLst/>
            <a:cxnLst/>
            <a:rect r="r" b="b" t="t" l="l"/>
            <a:pathLst>
              <a:path h="991342" w="1279901">
                <a:moveTo>
                  <a:pt x="0" y="0"/>
                </a:moveTo>
                <a:lnTo>
                  <a:pt x="1279901" y="0"/>
                </a:lnTo>
                <a:lnTo>
                  <a:pt x="1279901" y="991342"/>
                </a:lnTo>
                <a:lnTo>
                  <a:pt x="0" y="9913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41289">
            <a:off x="187695" y="4762385"/>
            <a:ext cx="1509734" cy="1922115"/>
          </a:xfrm>
          <a:custGeom>
            <a:avLst/>
            <a:gdLst/>
            <a:ahLst/>
            <a:cxnLst/>
            <a:rect r="r" b="b" t="t" l="l"/>
            <a:pathLst>
              <a:path h="1922115" w="1509734">
                <a:moveTo>
                  <a:pt x="0" y="0"/>
                </a:moveTo>
                <a:lnTo>
                  <a:pt x="1509734" y="0"/>
                </a:lnTo>
                <a:lnTo>
                  <a:pt x="1509734" y="1922115"/>
                </a:lnTo>
                <a:lnTo>
                  <a:pt x="0" y="19221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66256" y="8996564"/>
            <a:ext cx="941745" cy="941745"/>
          </a:xfrm>
          <a:custGeom>
            <a:avLst/>
            <a:gdLst/>
            <a:ahLst/>
            <a:cxnLst/>
            <a:rect r="r" b="b" t="t" l="l"/>
            <a:pathLst>
              <a:path h="941745" w="941745">
                <a:moveTo>
                  <a:pt x="0" y="0"/>
                </a:moveTo>
                <a:lnTo>
                  <a:pt x="941745" y="0"/>
                </a:lnTo>
                <a:lnTo>
                  <a:pt x="941745" y="941745"/>
                </a:lnTo>
                <a:lnTo>
                  <a:pt x="0" y="9417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124272">
            <a:off x="451847" y="8639765"/>
            <a:ext cx="981429" cy="981429"/>
          </a:xfrm>
          <a:custGeom>
            <a:avLst/>
            <a:gdLst/>
            <a:ahLst/>
            <a:cxnLst/>
            <a:rect r="r" b="b" t="t" l="l"/>
            <a:pathLst>
              <a:path h="981429" w="981429">
                <a:moveTo>
                  <a:pt x="0" y="0"/>
                </a:moveTo>
                <a:lnTo>
                  <a:pt x="981429" y="0"/>
                </a:lnTo>
                <a:lnTo>
                  <a:pt x="981429" y="981429"/>
                </a:lnTo>
                <a:lnTo>
                  <a:pt x="0" y="9814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7083" y="1210435"/>
            <a:ext cx="16693835" cy="825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>
                <a:solidFill>
                  <a:srgbClr val="A1E5D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Introducing CHOOSE YOUR CHAOS </a:t>
            </a:r>
          </a:p>
          <a:p>
            <a:pPr algn="ctr">
              <a:lnSpc>
                <a:spcPts val="5519"/>
              </a:lnSpc>
            </a:pPr>
          </a:p>
          <a:p>
            <a:pPr algn="ctr">
              <a:lnSpc>
                <a:spcPts val="4819"/>
              </a:lnSpc>
            </a:pPr>
            <a:r>
              <a:rPr lang="en-US" sz="3442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An AI-powered platform where users enter their :</a:t>
            </a:r>
          </a:p>
          <a:p>
            <a:pPr algn="ctr">
              <a:lnSpc>
                <a:spcPts val="4819"/>
              </a:lnSpc>
            </a:pPr>
          </a:p>
          <a:p>
            <a:pPr algn="ctr">
              <a:lnSpc>
                <a:spcPts val="4819"/>
              </a:lnSpc>
            </a:pPr>
            <a:r>
              <a:rPr lang="en-US" sz="3442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⏳ Available time</a:t>
            </a:r>
          </a:p>
          <a:p>
            <a:pPr algn="ctr">
              <a:lnSpc>
                <a:spcPts val="4819"/>
              </a:lnSpc>
            </a:pPr>
            <a:r>
              <a:rPr lang="en-US" sz="3442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💰 Budget</a:t>
            </a:r>
          </a:p>
          <a:p>
            <a:pPr algn="ctr">
              <a:lnSpc>
                <a:spcPts val="4819"/>
              </a:lnSpc>
            </a:pPr>
            <a:r>
              <a:rPr lang="en-US" sz="3442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📍 Current location</a:t>
            </a:r>
          </a:p>
          <a:p>
            <a:pPr algn="ctr">
              <a:lnSpc>
                <a:spcPts val="4819"/>
              </a:lnSpc>
            </a:pPr>
            <a:r>
              <a:rPr lang="en-US" sz="3442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🎯 Goals</a:t>
            </a:r>
          </a:p>
          <a:p>
            <a:pPr algn="ctr">
              <a:lnSpc>
                <a:spcPts val="4819"/>
              </a:lnSpc>
            </a:pPr>
            <a:r>
              <a:rPr lang="en-US" sz="3442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⚠️ Constraints</a:t>
            </a:r>
          </a:p>
          <a:p>
            <a:pPr algn="ctr">
              <a:lnSpc>
                <a:spcPts val="4819"/>
              </a:lnSpc>
            </a:pPr>
          </a:p>
          <a:p>
            <a:pPr algn="ctr">
              <a:lnSpc>
                <a:spcPts val="4819"/>
              </a:lnSpc>
            </a:pPr>
            <a:r>
              <a:rPr lang="en-US" sz="3442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The system then generates multiple possible plans, allowing users to compare different outcomes.</a:t>
            </a:r>
          </a:p>
          <a:p>
            <a:pPr algn="ctr">
              <a:lnSpc>
                <a:spcPts val="551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15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690055"/>
            <a:ext cx="18701319" cy="4258146"/>
          </a:xfrm>
          <a:custGeom>
            <a:avLst/>
            <a:gdLst/>
            <a:ahLst/>
            <a:cxnLst/>
            <a:rect r="r" b="b" t="t" l="l"/>
            <a:pathLst>
              <a:path h="4258146" w="18701319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045744" y="-4667569"/>
            <a:ext cx="8804594" cy="8804594"/>
          </a:xfrm>
          <a:custGeom>
            <a:avLst/>
            <a:gdLst/>
            <a:ahLst/>
            <a:cxnLst/>
            <a:rect r="r" b="b" t="t" l="l"/>
            <a:pathLst>
              <a:path h="8804594" w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85441" y="-881056"/>
            <a:ext cx="7139284" cy="9379588"/>
          </a:xfrm>
          <a:custGeom>
            <a:avLst/>
            <a:gdLst/>
            <a:ahLst/>
            <a:cxnLst/>
            <a:rect r="r" b="b" t="t" l="l"/>
            <a:pathLst>
              <a:path h="9379588" w="7139284">
                <a:moveTo>
                  <a:pt x="7139284" y="0"/>
                </a:moveTo>
                <a:lnTo>
                  <a:pt x="0" y="0"/>
                </a:lnTo>
                <a:lnTo>
                  <a:pt x="0" y="9379589"/>
                </a:lnTo>
                <a:lnTo>
                  <a:pt x="7139284" y="9379589"/>
                </a:lnTo>
                <a:lnTo>
                  <a:pt x="7139284" y="0"/>
                </a:lnTo>
                <a:close/>
              </a:path>
            </a:pathLst>
          </a:custGeom>
          <a:blipFill>
            <a:blip r:embed="rId6">
              <a:alphaModFix amt="6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15987">
            <a:off x="296401" y="7552637"/>
            <a:ext cx="9208152" cy="5468726"/>
          </a:xfrm>
          <a:custGeom>
            <a:avLst/>
            <a:gdLst/>
            <a:ahLst/>
            <a:cxnLst/>
            <a:rect r="r" b="b" t="t" l="l"/>
            <a:pathLst>
              <a:path h="5468726" w="9208152">
                <a:moveTo>
                  <a:pt x="0" y="0"/>
                </a:moveTo>
                <a:lnTo>
                  <a:pt x="9208152" y="0"/>
                </a:lnTo>
                <a:lnTo>
                  <a:pt x="9208152" y="5468726"/>
                </a:lnTo>
                <a:lnTo>
                  <a:pt x="0" y="54687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55079">
            <a:off x="13593505" y="5905620"/>
            <a:ext cx="3645919" cy="4072967"/>
          </a:xfrm>
          <a:custGeom>
            <a:avLst/>
            <a:gdLst/>
            <a:ahLst/>
            <a:cxnLst/>
            <a:rect r="r" b="b" t="t" l="l"/>
            <a:pathLst>
              <a:path h="4072967" w="3645919">
                <a:moveTo>
                  <a:pt x="0" y="0"/>
                </a:moveTo>
                <a:lnTo>
                  <a:pt x="3645919" y="0"/>
                </a:lnTo>
                <a:lnTo>
                  <a:pt x="3645919" y="4072966"/>
                </a:lnTo>
                <a:lnTo>
                  <a:pt x="0" y="40729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41578" y="3586092"/>
            <a:ext cx="259895" cy="43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  <a:spcBef>
                <a:spcPct val="0"/>
              </a:spcBef>
            </a:pPr>
            <a:r>
              <a:rPr lang="en-US" b="true" sz="2488">
                <a:solidFill>
                  <a:srgbClr val="04153C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6342" y="2342986"/>
            <a:ext cx="7481748" cy="1447910"/>
            <a:chOff x="0" y="0"/>
            <a:chExt cx="2481246" cy="4801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81246" cy="480184"/>
            </a:xfrm>
            <a:custGeom>
              <a:avLst/>
              <a:gdLst/>
              <a:ahLst/>
              <a:cxnLst/>
              <a:rect r="r" b="b" t="t" l="l"/>
              <a:pathLst>
                <a:path h="480184" w="2481246">
                  <a:moveTo>
                    <a:pt x="28974" y="0"/>
                  </a:moveTo>
                  <a:lnTo>
                    <a:pt x="2452272" y="0"/>
                  </a:lnTo>
                  <a:cubicBezTo>
                    <a:pt x="2468274" y="0"/>
                    <a:pt x="2481246" y="12972"/>
                    <a:pt x="2481246" y="28974"/>
                  </a:cubicBezTo>
                  <a:lnTo>
                    <a:pt x="2481246" y="451211"/>
                  </a:lnTo>
                  <a:cubicBezTo>
                    <a:pt x="2481246" y="458895"/>
                    <a:pt x="2478193" y="466265"/>
                    <a:pt x="2472760" y="471698"/>
                  </a:cubicBezTo>
                  <a:cubicBezTo>
                    <a:pt x="2467326" y="477132"/>
                    <a:pt x="2459956" y="480184"/>
                    <a:pt x="2452272" y="480184"/>
                  </a:cubicBezTo>
                  <a:lnTo>
                    <a:pt x="28974" y="480184"/>
                  </a:lnTo>
                  <a:cubicBezTo>
                    <a:pt x="21289" y="480184"/>
                    <a:pt x="13920" y="477132"/>
                    <a:pt x="8486" y="471698"/>
                  </a:cubicBezTo>
                  <a:cubicBezTo>
                    <a:pt x="3053" y="466265"/>
                    <a:pt x="0" y="458895"/>
                    <a:pt x="0" y="451211"/>
                  </a:cubicBezTo>
                  <a:lnTo>
                    <a:pt x="0" y="28974"/>
                  </a:lnTo>
                  <a:cubicBezTo>
                    <a:pt x="0" y="21289"/>
                    <a:pt x="3053" y="13920"/>
                    <a:pt x="8486" y="8486"/>
                  </a:cubicBezTo>
                  <a:cubicBezTo>
                    <a:pt x="13920" y="3053"/>
                    <a:pt x="21289" y="0"/>
                    <a:pt x="28974" y="0"/>
                  </a:cubicBezTo>
                  <a:close/>
                </a:path>
              </a:pathLst>
            </a:custGeom>
            <a:solidFill>
              <a:srgbClr val="3168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2481246" cy="432560"/>
            </a:xfrm>
            <a:prstGeom prst="rect">
              <a:avLst/>
            </a:prstGeom>
          </p:spPr>
          <p:txBody>
            <a:bodyPr anchor="ctr" rtlCol="false" tIns="40343" lIns="40343" bIns="40343" rIns="40343"/>
            <a:lstStyle/>
            <a:p>
              <a:pPr algn="ctr">
                <a:lnSpc>
                  <a:spcPts val="201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7841" y="2415459"/>
            <a:ext cx="712188" cy="558486"/>
            <a:chOff x="0" y="0"/>
            <a:chExt cx="1036493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6493" cy="812800"/>
            </a:xfrm>
            <a:custGeom>
              <a:avLst/>
              <a:gdLst/>
              <a:ahLst/>
              <a:cxnLst/>
              <a:rect r="r" b="b" t="t" l="l"/>
              <a:pathLst>
                <a:path h="812800" w="1036493">
                  <a:moveTo>
                    <a:pt x="518246" y="0"/>
                  </a:moveTo>
                  <a:cubicBezTo>
                    <a:pt x="232027" y="0"/>
                    <a:pt x="0" y="181951"/>
                    <a:pt x="0" y="406400"/>
                  </a:cubicBezTo>
                  <a:cubicBezTo>
                    <a:pt x="0" y="630849"/>
                    <a:pt x="232027" y="812800"/>
                    <a:pt x="518246" y="812800"/>
                  </a:cubicBezTo>
                  <a:cubicBezTo>
                    <a:pt x="804466" y="812800"/>
                    <a:pt x="1036493" y="630849"/>
                    <a:pt x="1036493" y="406400"/>
                  </a:cubicBezTo>
                  <a:cubicBezTo>
                    <a:pt x="1036493" y="181951"/>
                    <a:pt x="804466" y="0"/>
                    <a:pt x="5182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97171" y="123825"/>
              <a:ext cx="842150" cy="612775"/>
            </a:xfrm>
            <a:prstGeom prst="rect">
              <a:avLst/>
            </a:prstGeom>
          </p:spPr>
          <p:txBody>
            <a:bodyPr anchor="ctr" rtlCol="false" tIns="40343" lIns="40343" bIns="40343" rIns="40343"/>
            <a:lstStyle/>
            <a:p>
              <a:pPr algn="ctr">
                <a:lnSpc>
                  <a:spcPts val="201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77552" y="2342837"/>
            <a:ext cx="7481748" cy="1447910"/>
            <a:chOff x="0" y="0"/>
            <a:chExt cx="2481246" cy="4801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81246" cy="480184"/>
            </a:xfrm>
            <a:custGeom>
              <a:avLst/>
              <a:gdLst/>
              <a:ahLst/>
              <a:cxnLst/>
              <a:rect r="r" b="b" t="t" l="l"/>
              <a:pathLst>
                <a:path h="480184" w="2481246">
                  <a:moveTo>
                    <a:pt x="28974" y="0"/>
                  </a:moveTo>
                  <a:lnTo>
                    <a:pt x="2452272" y="0"/>
                  </a:lnTo>
                  <a:cubicBezTo>
                    <a:pt x="2468274" y="0"/>
                    <a:pt x="2481246" y="12972"/>
                    <a:pt x="2481246" y="28974"/>
                  </a:cubicBezTo>
                  <a:lnTo>
                    <a:pt x="2481246" y="451211"/>
                  </a:lnTo>
                  <a:cubicBezTo>
                    <a:pt x="2481246" y="458895"/>
                    <a:pt x="2478193" y="466265"/>
                    <a:pt x="2472760" y="471698"/>
                  </a:cubicBezTo>
                  <a:cubicBezTo>
                    <a:pt x="2467326" y="477132"/>
                    <a:pt x="2459956" y="480184"/>
                    <a:pt x="2452272" y="480184"/>
                  </a:cubicBezTo>
                  <a:lnTo>
                    <a:pt x="28974" y="480184"/>
                  </a:lnTo>
                  <a:cubicBezTo>
                    <a:pt x="21289" y="480184"/>
                    <a:pt x="13920" y="477132"/>
                    <a:pt x="8486" y="471698"/>
                  </a:cubicBezTo>
                  <a:cubicBezTo>
                    <a:pt x="3053" y="466265"/>
                    <a:pt x="0" y="458895"/>
                    <a:pt x="0" y="451211"/>
                  </a:cubicBezTo>
                  <a:lnTo>
                    <a:pt x="0" y="28974"/>
                  </a:lnTo>
                  <a:cubicBezTo>
                    <a:pt x="0" y="21289"/>
                    <a:pt x="3053" y="13920"/>
                    <a:pt x="8486" y="8486"/>
                  </a:cubicBezTo>
                  <a:cubicBezTo>
                    <a:pt x="13920" y="3053"/>
                    <a:pt x="21289" y="0"/>
                    <a:pt x="28974" y="0"/>
                  </a:cubicBezTo>
                  <a:close/>
                </a:path>
              </a:pathLst>
            </a:custGeom>
            <a:solidFill>
              <a:srgbClr val="3168C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2481246" cy="432560"/>
            </a:xfrm>
            <a:prstGeom prst="rect">
              <a:avLst/>
            </a:prstGeom>
          </p:spPr>
          <p:txBody>
            <a:bodyPr anchor="ctr" rtlCol="false" tIns="40343" lIns="40343" bIns="40343" rIns="40343"/>
            <a:lstStyle/>
            <a:p>
              <a:pPr algn="ctr">
                <a:lnSpc>
                  <a:spcPts val="201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50659" y="2455451"/>
            <a:ext cx="712188" cy="558486"/>
            <a:chOff x="0" y="0"/>
            <a:chExt cx="1036493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6493" cy="812800"/>
            </a:xfrm>
            <a:custGeom>
              <a:avLst/>
              <a:gdLst/>
              <a:ahLst/>
              <a:cxnLst/>
              <a:rect r="r" b="b" t="t" l="l"/>
              <a:pathLst>
                <a:path h="812800" w="1036493">
                  <a:moveTo>
                    <a:pt x="518246" y="0"/>
                  </a:moveTo>
                  <a:cubicBezTo>
                    <a:pt x="232027" y="0"/>
                    <a:pt x="0" y="181951"/>
                    <a:pt x="0" y="406400"/>
                  </a:cubicBezTo>
                  <a:cubicBezTo>
                    <a:pt x="0" y="630849"/>
                    <a:pt x="232027" y="812800"/>
                    <a:pt x="518246" y="812800"/>
                  </a:cubicBezTo>
                  <a:cubicBezTo>
                    <a:pt x="804466" y="812800"/>
                    <a:pt x="1036493" y="630849"/>
                    <a:pt x="1036493" y="406400"/>
                  </a:cubicBezTo>
                  <a:cubicBezTo>
                    <a:pt x="1036493" y="181951"/>
                    <a:pt x="804466" y="0"/>
                    <a:pt x="5182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97171" y="123825"/>
              <a:ext cx="842150" cy="612775"/>
            </a:xfrm>
            <a:prstGeom prst="rect">
              <a:avLst/>
            </a:prstGeom>
          </p:spPr>
          <p:txBody>
            <a:bodyPr anchor="ctr" rtlCol="false" tIns="40343" lIns="40343" bIns="40343" rIns="40343"/>
            <a:lstStyle/>
            <a:p>
              <a:pPr algn="ctr">
                <a:lnSpc>
                  <a:spcPts val="2011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542894" y="2525635"/>
            <a:ext cx="39736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4153C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05723" y="2398301"/>
            <a:ext cx="6925185" cy="215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8"/>
              </a:lnSpc>
              <a:spcBef>
                <a:spcPct val="0"/>
              </a:spcBef>
            </a:pPr>
            <a:r>
              <a:rPr lang="en-US" sz="2777" strike="noStrike" u="none">
                <a:solidFill>
                  <a:srgbClr val="D1F5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Interactive Exploration</a:t>
            </a:r>
          </a:p>
          <a:p>
            <a:pPr algn="l" marL="0" indent="0" lvl="0">
              <a:lnSpc>
                <a:spcPts val="3253"/>
              </a:lnSpc>
              <a:spcBef>
                <a:spcPct val="0"/>
              </a:spcBef>
            </a:pPr>
            <a:r>
              <a:rPr lang="en-US" sz="2324" strike="noStrike" u="none">
                <a:solidFill>
                  <a:srgbClr val="FFFAFA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User selects a path and asks: “What if I choose this?”</a:t>
            </a:r>
          </a:p>
          <a:p>
            <a:pPr algn="l" marL="0" indent="0" lvl="0">
              <a:lnSpc>
                <a:spcPts val="338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8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944926" y="8165990"/>
            <a:ext cx="7481748" cy="1447910"/>
            <a:chOff x="0" y="0"/>
            <a:chExt cx="2481246" cy="48018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81246" cy="480184"/>
            </a:xfrm>
            <a:custGeom>
              <a:avLst/>
              <a:gdLst/>
              <a:ahLst/>
              <a:cxnLst/>
              <a:rect r="r" b="b" t="t" l="l"/>
              <a:pathLst>
                <a:path h="480184" w="2481246">
                  <a:moveTo>
                    <a:pt x="28974" y="0"/>
                  </a:moveTo>
                  <a:lnTo>
                    <a:pt x="2452272" y="0"/>
                  </a:lnTo>
                  <a:cubicBezTo>
                    <a:pt x="2468274" y="0"/>
                    <a:pt x="2481246" y="12972"/>
                    <a:pt x="2481246" y="28974"/>
                  </a:cubicBezTo>
                  <a:lnTo>
                    <a:pt x="2481246" y="451211"/>
                  </a:lnTo>
                  <a:cubicBezTo>
                    <a:pt x="2481246" y="458895"/>
                    <a:pt x="2478193" y="466265"/>
                    <a:pt x="2472760" y="471698"/>
                  </a:cubicBezTo>
                  <a:cubicBezTo>
                    <a:pt x="2467326" y="477132"/>
                    <a:pt x="2459956" y="480184"/>
                    <a:pt x="2452272" y="480184"/>
                  </a:cubicBezTo>
                  <a:lnTo>
                    <a:pt x="28974" y="480184"/>
                  </a:lnTo>
                  <a:cubicBezTo>
                    <a:pt x="21289" y="480184"/>
                    <a:pt x="13920" y="477132"/>
                    <a:pt x="8486" y="471698"/>
                  </a:cubicBezTo>
                  <a:cubicBezTo>
                    <a:pt x="3053" y="466265"/>
                    <a:pt x="0" y="458895"/>
                    <a:pt x="0" y="451211"/>
                  </a:cubicBezTo>
                  <a:lnTo>
                    <a:pt x="0" y="28974"/>
                  </a:lnTo>
                  <a:cubicBezTo>
                    <a:pt x="0" y="21289"/>
                    <a:pt x="3053" y="13920"/>
                    <a:pt x="8486" y="8486"/>
                  </a:cubicBezTo>
                  <a:cubicBezTo>
                    <a:pt x="13920" y="3053"/>
                    <a:pt x="21289" y="0"/>
                    <a:pt x="28974" y="0"/>
                  </a:cubicBezTo>
                  <a:close/>
                </a:path>
              </a:pathLst>
            </a:custGeom>
            <a:solidFill>
              <a:srgbClr val="3168C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38100"/>
              <a:ext cx="2481246" cy="442085"/>
            </a:xfrm>
            <a:prstGeom prst="rect">
              <a:avLst/>
            </a:prstGeom>
          </p:spPr>
          <p:txBody>
            <a:bodyPr anchor="ctr" rtlCol="false" tIns="40343" lIns="40343" bIns="40343" rIns="40343"/>
            <a:lstStyle/>
            <a:p>
              <a:pPr algn="ctr">
                <a:lnSpc>
                  <a:spcPts val="2011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6158" y="8507586"/>
            <a:ext cx="712188" cy="558486"/>
            <a:chOff x="0" y="0"/>
            <a:chExt cx="1036493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36493" cy="812800"/>
            </a:xfrm>
            <a:custGeom>
              <a:avLst/>
              <a:gdLst/>
              <a:ahLst/>
              <a:cxnLst/>
              <a:rect r="r" b="b" t="t" l="l"/>
              <a:pathLst>
                <a:path h="812800" w="1036493">
                  <a:moveTo>
                    <a:pt x="518246" y="0"/>
                  </a:moveTo>
                  <a:cubicBezTo>
                    <a:pt x="232027" y="0"/>
                    <a:pt x="0" y="181951"/>
                    <a:pt x="0" y="406400"/>
                  </a:cubicBezTo>
                  <a:cubicBezTo>
                    <a:pt x="0" y="630849"/>
                    <a:pt x="232027" y="812800"/>
                    <a:pt x="518246" y="812800"/>
                  </a:cubicBezTo>
                  <a:cubicBezTo>
                    <a:pt x="804466" y="812800"/>
                    <a:pt x="1036493" y="630849"/>
                    <a:pt x="1036493" y="406400"/>
                  </a:cubicBezTo>
                  <a:cubicBezTo>
                    <a:pt x="1036493" y="181951"/>
                    <a:pt x="804466" y="0"/>
                    <a:pt x="5182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97171" y="114300"/>
              <a:ext cx="842150" cy="622300"/>
            </a:xfrm>
            <a:prstGeom prst="rect">
              <a:avLst/>
            </a:prstGeom>
          </p:spPr>
          <p:txBody>
            <a:bodyPr anchor="ctr" rtlCol="false" tIns="40343" lIns="40343" bIns="40343" rIns="40343"/>
            <a:lstStyle/>
            <a:p>
              <a:pPr algn="ctr">
                <a:lnSpc>
                  <a:spcPts val="2011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15416" y="8581152"/>
            <a:ext cx="263201" cy="79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4153C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4</a:t>
            </a:r>
          </a:p>
          <a:p>
            <a:pPr algn="ctr">
              <a:lnSpc>
                <a:spcPts val="2766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395076" y="8108840"/>
            <a:ext cx="6553251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D1F5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Scenario Evaluation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AFA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Compare time, cost, productivity, fun and other factors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262688" y="7604276"/>
            <a:ext cx="637789" cy="675654"/>
            <a:chOff x="0" y="0"/>
            <a:chExt cx="76725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7250" cy="812800"/>
            </a:xfrm>
            <a:custGeom>
              <a:avLst/>
              <a:gdLst/>
              <a:ahLst/>
              <a:cxnLst/>
              <a:rect r="r" b="b" t="t" l="l"/>
              <a:pathLst>
                <a:path h="812800" w="767250">
                  <a:moveTo>
                    <a:pt x="383625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564050" y="0"/>
                  </a:lnTo>
                  <a:lnTo>
                    <a:pt x="564050" y="406400"/>
                  </a:lnTo>
                  <a:lnTo>
                    <a:pt x="767250" y="406400"/>
                  </a:lnTo>
                  <a:lnTo>
                    <a:pt x="383625" y="81280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203200" y="-66675"/>
              <a:ext cx="36085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223939" y="544288"/>
            <a:ext cx="9963567" cy="12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2"/>
              </a:lnSpc>
            </a:pPr>
            <a:r>
              <a:rPr lang="en-US" sz="8367">
                <a:solidFill>
                  <a:srgbClr val="D1F5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WORKFLOW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4279" y="2276273"/>
            <a:ext cx="7052395" cy="151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D1F5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User </a:t>
            </a:r>
            <a:r>
              <a:rPr lang="en-US" sz="3400">
                <a:solidFill>
                  <a:srgbClr val="D1F5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Input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Time + Budget + Location + Goals + Constraints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4741" y="2490219"/>
            <a:ext cx="26320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4153C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1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6342" y="4255923"/>
            <a:ext cx="7481748" cy="1447910"/>
            <a:chOff x="0" y="0"/>
            <a:chExt cx="2481246" cy="48018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81246" cy="480184"/>
            </a:xfrm>
            <a:custGeom>
              <a:avLst/>
              <a:gdLst/>
              <a:ahLst/>
              <a:cxnLst/>
              <a:rect r="r" b="b" t="t" l="l"/>
              <a:pathLst>
                <a:path h="480184" w="2481246">
                  <a:moveTo>
                    <a:pt x="28974" y="0"/>
                  </a:moveTo>
                  <a:lnTo>
                    <a:pt x="2452272" y="0"/>
                  </a:lnTo>
                  <a:cubicBezTo>
                    <a:pt x="2468274" y="0"/>
                    <a:pt x="2481246" y="12972"/>
                    <a:pt x="2481246" y="28974"/>
                  </a:cubicBezTo>
                  <a:lnTo>
                    <a:pt x="2481246" y="451211"/>
                  </a:lnTo>
                  <a:cubicBezTo>
                    <a:pt x="2481246" y="458895"/>
                    <a:pt x="2478193" y="466265"/>
                    <a:pt x="2472760" y="471698"/>
                  </a:cubicBezTo>
                  <a:cubicBezTo>
                    <a:pt x="2467326" y="477132"/>
                    <a:pt x="2459956" y="480184"/>
                    <a:pt x="2452272" y="480184"/>
                  </a:cubicBezTo>
                  <a:lnTo>
                    <a:pt x="28974" y="480184"/>
                  </a:lnTo>
                  <a:cubicBezTo>
                    <a:pt x="21289" y="480184"/>
                    <a:pt x="13920" y="477132"/>
                    <a:pt x="8486" y="471698"/>
                  </a:cubicBezTo>
                  <a:cubicBezTo>
                    <a:pt x="3053" y="466265"/>
                    <a:pt x="0" y="458895"/>
                    <a:pt x="0" y="451211"/>
                  </a:cubicBezTo>
                  <a:lnTo>
                    <a:pt x="0" y="28974"/>
                  </a:lnTo>
                  <a:cubicBezTo>
                    <a:pt x="0" y="21289"/>
                    <a:pt x="3053" y="13920"/>
                    <a:pt x="8486" y="8486"/>
                  </a:cubicBezTo>
                  <a:cubicBezTo>
                    <a:pt x="13920" y="3053"/>
                    <a:pt x="21289" y="0"/>
                    <a:pt x="28974" y="0"/>
                  </a:cubicBezTo>
                  <a:close/>
                </a:path>
              </a:pathLst>
            </a:custGeom>
            <a:solidFill>
              <a:srgbClr val="3168C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38100"/>
              <a:ext cx="2481246" cy="442085"/>
            </a:xfrm>
            <a:prstGeom prst="rect">
              <a:avLst/>
            </a:prstGeom>
          </p:spPr>
          <p:txBody>
            <a:bodyPr anchor="ctr" rtlCol="false" tIns="40343" lIns="40343" bIns="40343" rIns="40343"/>
            <a:lstStyle/>
            <a:p>
              <a:pPr algn="ctr">
                <a:lnSpc>
                  <a:spcPts val="2011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82888" y="4271938"/>
            <a:ext cx="712188" cy="558486"/>
            <a:chOff x="0" y="0"/>
            <a:chExt cx="1036493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36493" cy="812800"/>
            </a:xfrm>
            <a:custGeom>
              <a:avLst/>
              <a:gdLst/>
              <a:ahLst/>
              <a:cxnLst/>
              <a:rect r="r" b="b" t="t" l="l"/>
              <a:pathLst>
                <a:path h="812800" w="1036493">
                  <a:moveTo>
                    <a:pt x="518246" y="0"/>
                  </a:moveTo>
                  <a:cubicBezTo>
                    <a:pt x="232027" y="0"/>
                    <a:pt x="0" y="181951"/>
                    <a:pt x="0" y="406400"/>
                  </a:cubicBezTo>
                  <a:cubicBezTo>
                    <a:pt x="0" y="630849"/>
                    <a:pt x="232027" y="812800"/>
                    <a:pt x="518246" y="812800"/>
                  </a:cubicBezTo>
                  <a:cubicBezTo>
                    <a:pt x="804466" y="812800"/>
                    <a:pt x="1036493" y="630849"/>
                    <a:pt x="1036493" y="406400"/>
                  </a:cubicBezTo>
                  <a:cubicBezTo>
                    <a:pt x="1036493" y="181951"/>
                    <a:pt x="804466" y="0"/>
                    <a:pt x="5182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97171" y="114300"/>
              <a:ext cx="842150" cy="622300"/>
            </a:xfrm>
            <a:prstGeom prst="rect">
              <a:avLst/>
            </a:prstGeom>
          </p:spPr>
          <p:txBody>
            <a:bodyPr anchor="ctr" rtlCol="false" tIns="40343" lIns="40343" bIns="40343" rIns="40343"/>
            <a:lstStyle/>
            <a:p>
              <a:pPr algn="ctr">
                <a:lnSpc>
                  <a:spcPts val="2011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501447" y="4195738"/>
            <a:ext cx="6160270" cy="151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3400" strike="noStrike" u="none">
                <a:solidFill>
                  <a:srgbClr val="D1F5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AI Analysis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AFA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Understand the user's situation and priorities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07381" y="4355305"/>
            <a:ext cx="26320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4153C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2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91458" y="6195987"/>
            <a:ext cx="7780249" cy="1447910"/>
            <a:chOff x="0" y="0"/>
            <a:chExt cx="10373665" cy="1930546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398001" y="0"/>
              <a:ext cx="9975664" cy="1930546"/>
              <a:chOff x="0" y="0"/>
              <a:chExt cx="2481246" cy="480185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481246" cy="480184"/>
              </a:xfrm>
              <a:custGeom>
                <a:avLst/>
                <a:gdLst/>
                <a:ahLst/>
                <a:cxnLst/>
                <a:rect r="r" b="b" t="t" l="l"/>
                <a:pathLst>
                  <a:path h="480184" w="2481246">
                    <a:moveTo>
                      <a:pt x="28974" y="0"/>
                    </a:moveTo>
                    <a:lnTo>
                      <a:pt x="2452272" y="0"/>
                    </a:lnTo>
                    <a:cubicBezTo>
                      <a:pt x="2468274" y="0"/>
                      <a:pt x="2481246" y="12972"/>
                      <a:pt x="2481246" y="28974"/>
                    </a:cubicBezTo>
                    <a:lnTo>
                      <a:pt x="2481246" y="451211"/>
                    </a:lnTo>
                    <a:cubicBezTo>
                      <a:pt x="2481246" y="458895"/>
                      <a:pt x="2478193" y="466265"/>
                      <a:pt x="2472760" y="471698"/>
                    </a:cubicBezTo>
                    <a:cubicBezTo>
                      <a:pt x="2467326" y="477132"/>
                      <a:pt x="2459956" y="480184"/>
                      <a:pt x="2452272" y="480184"/>
                    </a:cubicBezTo>
                    <a:lnTo>
                      <a:pt x="28974" y="480184"/>
                    </a:lnTo>
                    <a:cubicBezTo>
                      <a:pt x="21289" y="480184"/>
                      <a:pt x="13920" y="477132"/>
                      <a:pt x="8486" y="471698"/>
                    </a:cubicBezTo>
                    <a:cubicBezTo>
                      <a:pt x="3053" y="466265"/>
                      <a:pt x="0" y="458895"/>
                      <a:pt x="0" y="451211"/>
                    </a:cubicBezTo>
                    <a:lnTo>
                      <a:pt x="0" y="28974"/>
                    </a:lnTo>
                    <a:cubicBezTo>
                      <a:pt x="0" y="21289"/>
                      <a:pt x="3053" y="13920"/>
                      <a:pt x="8486" y="8486"/>
                    </a:cubicBezTo>
                    <a:cubicBezTo>
                      <a:pt x="13920" y="3053"/>
                      <a:pt x="21289" y="0"/>
                      <a:pt x="28974" y="0"/>
                    </a:cubicBezTo>
                    <a:close/>
                  </a:path>
                </a:pathLst>
              </a:custGeom>
              <a:solidFill>
                <a:srgbClr val="3168CD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47625"/>
                <a:ext cx="2481246" cy="432560"/>
              </a:xfrm>
              <a:prstGeom prst="rect">
                <a:avLst/>
              </a:prstGeom>
            </p:spPr>
            <p:txBody>
              <a:bodyPr anchor="ctr" rtlCol="false" tIns="40343" lIns="40343" bIns="40343" rIns="40343"/>
              <a:lstStyle/>
              <a:p>
                <a:pPr algn="ctr">
                  <a:lnSpc>
                    <a:spcPts val="2011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96631"/>
              <a:ext cx="949584" cy="744648"/>
              <a:chOff x="0" y="0"/>
              <a:chExt cx="1036493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03649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36493">
                    <a:moveTo>
                      <a:pt x="518246" y="0"/>
                    </a:moveTo>
                    <a:cubicBezTo>
                      <a:pt x="232027" y="0"/>
                      <a:pt x="0" y="181951"/>
                      <a:pt x="0" y="406400"/>
                    </a:cubicBezTo>
                    <a:cubicBezTo>
                      <a:pt x="0" y="630849"/>
                      <a:pt x="232027" y="812800"/>
                      <a:pt x="518246" y="812800"/>
                    </a:cubicBezTo>
                    <a:cubicBezTo>
                      <a:pt x="804466" y="812800"/>
                      <a:pt x="1036493" y="630849"/>
                      <a:pt x="1036493" y="406400"/>
                    </a:cubicBezTo>
                    <a:cubicBezTo>
                      <a:pt x="1036493" y="181951"/>
                      <a:pt x="804466" y="0"/>
                      <a:pt x="51824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97171" y="123825"/>
                <a:ext cx="842150" cy="612775"/>
              </a:xfrm>
              <a:prstGeom prst="rect">
                <a:avLst/>
              </a:prstGeom>
            </p:spPr>
            <p:txBody>
              <a:bodyPr anchor="ctr" rtlCol="false" tIns="40343" lIns="40343" bIns="40343" rIns="40343"/>
              <a:lstStyle/>
              <a:p>
                <a:pPr algn="ctr">
                  <a:lnSpc>
                    <a:spcPts val="2011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1079986" y="78747"/>
              <a:ext cx="8952894" cy="1384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60"/>
                </a:lnSpc>
                <a:spcBef>
                  <a:spcPct val="0"/>
                </a:spcBef>
              </a:pPr>
              <a:r>
                <a:rPr lang="en-US" sz="3400" strike="noStrike" u="none">
                  <a:solidFill>
                    <a:srgbClr val="D1F5FF"/>
                  </a:solidFill>
                  <a:latin typeface="210 8비트 Bold"/>
                  <a:ea typeface="210 8비트 Bold"/>
                  <a:cs typeface="210 8비트 Bold"/>
                  <a:sym typeface="210 8비트 Bold"/>
                </a:rPr>
                <a:t>Scenario Generation</a:t>
              </a:r>
            </a:p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trike="noStrike" u="none">
                  <a:solidFill>
                    <a:srgbClr val="FFFAFA"/>
                  </a:solidFill>
                  <a:latin typeface="210 8비트 Bold"/>
                  <a:ea typeface="210 8비트 Bold"/>
                  <a:cs typeface="210 8비트 Bold"/>
                  <a:sym typeface="210 8비트 Bold"/>
                </a:rPr>
                <a:t>Generate multiple possible plans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299325" y="171795"/>
              <a:ext cx="350935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4153C"/>
                  </a:solidFill>
                  <a:latin typeface="210 8비트 Bold"/>
                  <a:ea typeface="210 8비트 Bold"/>
                  <a:cs typeface="210 8비트 Bold"/>
                  <a:sym typeface="210 8비트 Bold"/>
                </a:rPr>
                <a:t>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777552" y="4466400"/>
            <a:ext cx="7481748" cy="1447910"/>
            <a:chOff x="0" y="0"/>
            <a:chExt cx="2481246" cy="48018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81246" cy="480184"/>
            </a:xfrm>
            <a:custGeom>
              <a:avLst/>
              <a:gdLst/>
              <a:ahLst/>
              <a:cxnLst/>
              <a:rect r="r" b="b" t="t" l="l"/>
              <a:pathLst>
                <a:path h="480184" w="2481246">
                  <a:moveTo>
                    <a:pt x="28974" y="0"/>
                  </a:moveTo>
                  <a:lnTo>
                    <a:pt x="2452272" y="0"/>
                  </a:lnTo>
                  <a:cubicBezTo>
                    <a:pt x="2468274" y="0"/>
                    <a:pt x="2481246" y="12972"/>
                    <a:pt x="2481246" y="28974"/>
                  </a:cubicBezTo>
                  <a:lnTo>
                    <a:pt x="2481246" y="451211"/>
                  </a:lnTo>
                  <a:cubicBezTo>
                    <a:pt x="2481246" y="458895"/>
                    <a:pt x="2478193" y="466265"/>
                    <a:pt x="2472760" y="471698"/>
                  </a:cubicBezTo>
                  <a:cubicBezTo>
                    <a:pt x="2467326" y="477132"/>
                    <a:pt x="2459956" y="480184"/>
                    <a:pt x="2452272" y="480184"/>
                  </a:cubicBezTo>
                  <a:lnTo>
                    <a:pt x="28974" y="480184"/>
                  </a:lnTo>
                  <a:cubicBezTo>
                    <a:pt x="21289" y="480184"/>
                    <a:pt x="13920" y="477132"/>
                    <a:pt x="8486" y="471698"/>
                  </a:cubicBezTo>
                  <a:cubicBezTo>
                    <a:pt x="3053" y="466265"/>
                    <a:pt x="0" y="458895"/>
                    <a:pt x="0" y="451211"/>
                  </a:cubicBezTo>
                  <a:lnTo>
                    <a:pt x="0" y="28974"/>
                  </a:lnTo>
                  <a:cubicBezTo>
                    <a:pt x="0" y="21289"/>
                    <a:pt x="3053" y="13920"/>
                    <a:pt x="8486" y="8486"/>
                  </a:cubicBezTo>
                  <a:cubicBezTo>
                    <a:pt x="13920" y="3053"/>
                    <a:pt x="21289" y="0"/>
                    <a:pt x="28974" y="0"/>
                  </a:cubicBezTo>
                  <a:close/>
                </a:path>
              </a:pathLst>
            </a:custGeom>
            <a:solidFill>
              <a:srgbClr val="3168CD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47625"/>
              <a:ext cx="2481246" cy="432560"/>
            </a:xfrm>
            <a:prstGeom prst="rect">
              <a:avLst/>
            </a:prstGeom>
          </p:spPr>
          <p:txBody>
            <a:bodyPr anchor="ctr" rtlCol="false" tIns="40343" lIns="40343" bIns="40343" rIns="40343"/>
            <a:lstStyle/>
            <a:p>
              <a:pPr algn="ctr">
                <a:lnSpc>
                  <a:spcPts val="2011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50659" y="4624076"/>
            <a:ext cx="712188" cy="558486"/>
            <a:chOff x="0" y="0"/>
            <a:chExt cx="1036493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36493" cy="812800"/>
            </a:xfrm>
            <a:custGeom>
              <a:avLst/>
              <a:gdLst/>
              <a:ahLst/>
              <a:cxnLst/>
              <a:rect r="r" b="b" t="t" l="l"/>
              <a:pathLst>
                <a:path h="812800" w="1036493">
                  <a:moveTo>
                    <a:pt x="518246" y="0"/>
                  </a:moveTo>
                  <a:cubicBezTo>
                    <a:pt x="232027" y="0"/>
                    <a:pt x="0" y="181951"/>
                    <a:pt x="0" y="406400"/>
                  </a:cubicBezTo>
                  <a:cubicBezTo>
                    <a:pt x="0" y="630849"/>
                    <a:pt x="232027" y="812800"/>
                    <a:pt x="518246" y="812800"/>
                  </a:cubicBezTo>
                  <a:cubicBezTo>
                    <a:pt x="804466" y="812800"/>
                    <a:pt x="1036493" y="630849"/>
                    <a:pt x="1036493" y="406400"/>
                  </a:cubicBezTo>
                  <a:cubicBezTo>
                    <a:pt x="1036493" y="181951"/>
                    <a:pt x="804466" y="0"/>
                    <a:pt x="5182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97171" y="123825"/>
              <a:ext cx="842150" cy="612775"/>
            </a:xfrm>
            <a:prstGeom prst="rect">
              <a:avLst/>
            </a:prstGeom>
          </p:spPr>
          <p:txBody>
            <a:bodyPr anchor="ctr" rtlCol="false" tIns="40343" lIns="40343" bIns="40343" rIns="40343"/>
            <a:lstStyle/>
            <a:p>
              <a:pPr algn="ctr">
                <a:lnSpc>
                  <a:spcPts val="2011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0205723" y="4408177"/>
            <a:ext cx="6131848" cy="145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8"/>
              </a:lnSpc>
              <a:spcBef>
                <a:spcPct val="0"/>
              </a:spcBef>
            </a:pPr>
            <a:r>
              <a:rPr lang="en-US" sz="3284" strike="noStrike" u="none">
                <a:solidFill>
                  <a:srgbClr val="D1F5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Dynamic Recalculation</a:t>
            </a:r>
          </a:p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488" strike="noStrike" u="none">
                <a:solidFill>
                  <a:srgbClr val="FFFAFA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The system generates the next possible branch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580130" y="4697967"/>
            <a:ext cx="253246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4153C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6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</p:txBody>
      </p:sp>
      <p:grpSp>
        <p:nvGrpSpPr>
          <p:cNvPr name="Group 61" id="61"/>
          <p:cNvGrpSpPr/>
          <p:nvPr/>
        </p:nvGrpSpPr>
        <p:grpSpPr>
          <a:xfrm rot="0">
            <a:off x="4262688" y="5703832"/>
            <a:ext cx="637789" cy="675654"/>
            <a:chOff x="0" y="0"/>
            <a:chExt cx="76725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7250" cy="812800"/>
            </a:xfrm>
            <a:custGeom>
              <a:avLst/>
              <a:gdLst/>
              <a:ahLst/>
              <a:cxnLst/>
              <a:rect r="r" b="b" t="t" l="l"/>
              <a:pathLst>
                <a:path h="812800" w="767250">
                  <a:moveTo>
                    <a:pt x="383625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564050" y="0"/>
                  </a:lnTo>
                  <a:lnTo>
                    <a:pt x="564050" y="406400"/>
                  </a:lnTo>
                  <a:lnTo>
                    <a:pt x="767250" y="406400"/>
                  </a:lnTo>
                  <a:lnTo>
                    <a:pt x="383625" y="81280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203200" y="-66675"/>
              <a:ext cx="36085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262688" y="3790746"/>
            <a:ext cx="637789" cy="675654"/>
            <a:chOff x="0" y="0"/>
            <a:chExt cx="76725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67250" cy="812800"/>
            </a:xfrm>
            <a:custGeom>
              <a:avLst/>
              <a:gdLst/>
              <a:ahLst/>
              <a:cxnLst/>
              <a:rect r="r" b="b" t="t" l="l"/>
              <a:pathLst>
                <a:path h="812800" w="767250">
                  <a:moveTo>
                    <a:pt x="383625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564050" y="0"/>
                  </a:lnTo>
                  <a:lnTo>
                    <a:pt x="564050" y="406400"/>
                  </a:lnTo>
                  <a:lnTo>
                    <a:pt x="767250" y="406400"/>
                  </a:lnTo>
                  <a:lnTo>
                    <a:pt x="383625" y="81280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203200" y="-66675"/>
              <a:ext cx="36085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199532" y="3799198"/>
            <a:ext cx="637789" cy="675654"/>
            <a:chOff x="0" y="0"/>
            <a:chExt cx="76725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67250" cy="812800"/>
            </a:xfrm>
            <a:custGeom>
              <a:avLst/>
              <a:gdLst/>
              <a:ahLst/>
              <a:cxnLst/>
              <a:rect r="r" b="b" t="t" l="l"/>
              <a:pathLst>
                <a:path h="812800" w="767250">
                  <a:moveTo>
                    <a:pt x="383625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564050" y="0"/>
                  </a:lnTo>
                  <a:lnTo>
                    <a:pt x="564050" y="406400"/>
                  </a:lnTo>
                  <a:lnTo>
                    <a:pt x="767250" y="406400"/>
                  </a:lnTo>
                  <a:lnTo>
                    <a:pt x="383625" y="81280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203200" y="-66675"/>
              <a:ext cx="36085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6918" y="1484059"/>
            <a:ext cx="16413031" cy="6332220"/>
            <a:chOff x="0" y="0"/>
            <a:chExt cx="4322774" cy="1667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2774" cy="1667745"/>
            </a:xfrm>
            <a:custGeom>
              <a:avLst/>
              <a:gdLst/>
              <a:ahLst/>
              <a:cxnLst/>
              <a:rect r="r" b="b" t="t" l="l"/>
              <a:pathLst>
                <a:path h="1667745" w="4322774">
                  <a:moveTo>
                    <a:pt x="10849" y="0"/>
                  </a:moveTo>
                  <a:lnTo>
                    <a:pt x="4311925" y="0"/>
                  </a:lnTo>
                  <a:cubicBezTo>
                    <a:pt x="4317917" y="0"/>
                    <a:pt x="4322774" y="4857"/>
                    <a:pt x="4322774" y="10849"/>
                  </a:cubicBezTo>
                  <a:lnTo>
                    <a:pt x="4322774" y="1656896"/>
                  </a:lnTo>
                  <a:cubicBezTo>
                    <a:pt x="4322774" y="1662888"/>
                    <a:pt x="4317917" y="1667745"/>
                    <a:pt x="4311925" y="1667745"/>
                  </a:cubicBezTo>
                  <a:lnTo>
                    <a:pt x="10849" y="1667745"/>
                  </a:lnTo>
                  <a:cubicBezTo>
                    <a:pt x="7972" y="1667745"/>
                    <a:pt x="5212" y="1666602"/>
                    <a:pt x="3178" y="1664568"/>
                  </a:cubicBezTo>
                  <a:cubicBezTo>
                    <a:pt x="1143" y="1662533"/>
                    <a:pt x="0" y="1659773"/>
                    <a:pt x="0" y="1656896"/>
                  </a:cubicBezTo>
                  <a:lnTo>
                    <a:pt x="0" y="10849"/>
                  </a:lnTo>
                  <a:cubicBezTo>
                    <a:pt x="0" y="4857"/>
                    <a:pt x="4857" y="0"/>
                    <a:pt x="10849" y="0"/>
                  </a:cubicBezTo>
                  <a:close/>
                </a:path>
              </a:pathLst>
            </a:custGeom>
            <a:solidFill>
              <a:srgbClr val="D24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322774" cy="1734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05127" y="8180556"/>
            <a:ext cx="13916613" cy="1801527"/>
            <a:chOff x="0" y="0"/>
            <a:chExt cx="10428563" cy="13499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28563" cy="1349993"/>
            </a:xfrm>
            <a:custGeom>
              <a:avLst/>
              <a:gdLst/>
              <a:ahLst/>
              <a:cxnLst/>
              <a:rect r="r" b="b" t="t" l="l"/>
              <a:pathLst>
                <a:path h="1349993" w="10428563">
                  <a:moveTo>
                    <a:pt x="7232" y="0"/>
                  </a:moveTo>
                  <a:lnTo>
                    <a:pt x="10421331" y="0"/>
                  </a:lnTo>
                  <a:cubicBezTo>
                    <a:pt x="10423249" y="0"/>
                    <a:pt x="10425088" y="762"/>
                    <a:pt x="10426444" y="2118"/>
                  </a:cubicBezTo>
                  <a:cubicBezTo>
                    <a:pt x="10427801" y="3474"/>
                    <a:pt x="10428563" y="5314"/>
                    <a:pt x="10428563" y="7232"/>
                  </a:cubicBezTo>
                  <a:lnTo>
                    <a:pt x="10428563" y="1342761"/>
                  </a:lnTo>
                  <a:cubicBezTo>
                    <a:pt x="10428563" y="1344680"/>
                    <a:pt x="10427801" y="1346519"/>
                    <a:pt x="10426444" y="1347875"/>
                  </a:cubicBezTo>
                  <a:cubicBezTo>
                    <a:pt x="10425088" y="1349232"/>
                    <a:pt x="10423249" y="1349993"/>
                    <a:pt x="10421331" y="1349993"/>
                  </a:cubicBezTo>
                  <a:lnTo>
                    <a:pt x="7232" y="1349993"/>
                  </a:lnTo>
                  <a:cubicBezTo>
                    <a:pt x="5314" y="1349993"/>
                    <a:pt x="3474" y="1349232"/>
                    <a:pt x="2118" y="1347875"/>
                  </a:cubicBezTo>
                  <a:cubicBezTo>
                    <a:pt x="762" y="1346519"/>
                    <a:pt x="0" y="1344680"/>
                    <a:pt x="0" y="1342761"/>
                  </a:cubicBezTo>
                  <a:lnTo>
                    <a:pt x="0" y="7232"/>
                  </a:lnTo>
                  <a:cubicBezTo>
                    <a:pt x="0" y="5314"/>
                    <a:pt x="762" y="3474"/>
                    <a:pt x="2118" y="2118"/>
                  </a:cubicBezTo>
                  <a:cubicBezTo>
                    <a:pt x="3474" y="762"/>
                    <a:pt x="5314" y="0"/>
                    <a:pt x="7232" y="0"/>
                  </a:cubicBezTo>
                  <a:close/>
                </a:path>
              </a:pathLst>
            </a:custGeom>
            <a:solidFill>
              <a:srgbClr val="2E1B5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428563" cy="1416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07822" y="1369759"/>
            <a:ext cx="15911223" cy="689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399">
                <a:solidFill>
                  <a:srgbClr val="FFFF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KEY FEATURE 1: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BRANCHING FUTURES 🌳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Every choice creates a new path.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Explore different possibilities by changing your decisions at any point.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Choose a path → See the outcome → Ask “What if?” → Explore again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“What if I choose this instead?”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The AI dynamically generates new branches, allowing you to compare multiple possible outcomes before making your choice.</a:t>
            </a:r>
          </a:p>
          <a:p>
            <a:pPr algn="l">
              <a:lnSpc>
                <a:spcPts val="616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913721" y="1484059"/>
            <a:ext cx="5756228" cy="2446397"/>
          </a:xfrm>
          <a:custGeom>
            <a:avLst/>
            <a:gdLst/>
            <a:ahLst/>
            <a:cxnLst/>
            <a:rect r="r" b="b" t="t" l="l"/>
            <a:pathLst>
              <a:path h="2446397" w="5756228">
                <a:moveTo>
                  <a:pt x="0" y="0"/>
                </a:moveTo>
                <a:lnTo>
                  <a:pt x="5756228" y="0"/>
                </a:lnTo>
                <a:lnTo>
                  <a:pt x="5756228" y="2446397"/>
                </a:lnTo>
                <a:lnTo>
                  <a:pt x="0" y="2446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40521" y="394262"/>
            <a:ext cx="6767670" cy="61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9"/>
              </a:lnSpc>
            </a:pPr>
            <a:r>
              <a:rPr lang="en-US" sz="4639">
                <a:solidFill>
                  <a:srgbClr val="FFFAF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WHY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59193" y="394262"/>
            <a:ext cx="11500107" cy="61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9"/>
              </a:lnSpc>
            </a:pPr>
            <a:r>
              <a:rPr lang="en-US" sz="4639">
                <a:solidFill>
                  <a:srgbClr val="E17EE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CHOOSE YOUR CHAOS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05127" y="8657019"/>
            <a:ext cx="13916613" cy="7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One </a:t>
            </a:r>
            <a:r>
              <a:rPr lang="en-US" sz="449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decision. Multiple possibilities.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94077" y="-3864115"/>
            <a:ext cx="9283835" cy="9283835"/>
          </a:xfrm>
          <a:custGeom>
            <a:avLst/>
            <a:gdLst/>
            <a:ahLst/>
            <a:cxnLst/>
            <a:rect r="r" b="b" t="t" l="l"/>
            <a:pathLst>
              <a:path h="9283835" w="9283835">
                <a:moveTo>
                  <a:pt x="0" y="0"/>
                </a:moveTo>
                <a:lnTo>
                  <a:pt x="9283835" y="0"/>
                </a:lnTo>
                <a:lnTo>
                  <a:pt x="9283835" y="9283835"/>
                </a:lnTo>
                <a:lnTo>
                  <a:pt x="0" y="928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6371" y="1247067"/>
            <a:ext cx="17528982" cy="7294364"/>
            <a:chOff x="0" y="0"/>
            <a:chExt cx="4616687" cy="19211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16687" cy="1921149"/>
            </a:xfrm>
            <a:custGeom>
              <a:avLst/>
              <a:gdLst/>
              <a:ahLst/>
              <a:cxnLst/>
              <a:rect r="r" b="b" t="t" l="l"/>
              <a:pathLst>
                <a:path h="1921149" w="4616687">
                  <a:moveTo>
                    <a:pt x="10158" y="0"/>
                  </a:moveTo>
                  <a:lnTo>
                    <a:pt x="4606529" y="0"/>
                  </a:lnTo>
                  <a:cubicBezTo>
                    <a:pt x="4612139" y="0"/>
                    <a:pt x="4616687" y="4548"/>
                    <a:pt x="4616687" y="10158"/>
                  </a:cubicBezTo>
                  <a:lnTo>
                    <a:pt x="4616687" y="1910991"/>
                  </a:lnTo>
                  <a:cubicBezTo>
                    <a:pt x="4616687" y="1916601"/>
                    <a:pt x="4612139" y="1921149"/>
                    <a:pt x="4606529" y="1921149"/>
                  </a:cubicBezTo>
                  <a:lnTo>
                    <a:pt x="10158" y="1921149"/>
                  </a:lnTo>
                  <a:cubicBezTo>
                    <a:pt x="4548" y="1921149"/>
                    <a:pt x="0" y="1916601"/>
                    <a:pt x="0" y="1910991"/>
                  </a:cubicBezTo>
                  <a:lnTo>
                    <a:pt x="0" y="10158"/>
                  </a:lnTo>
                  <a:cubicBezTo>
                    <a:pt x="0" y="4548"/>
                    <a:pt x="4548" y="0"/>
                    <a:pt x="10158" y="0"/>
                  </a:cubicBezTo>
                  <a:close/>
                </a:path>
              </a:pathLst>
            </a:custGeom>
            <a:solidFill>
              <a:srgbClr val="D246E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616687" cy="198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6371" y="8971767"/>
            <a:ext cx="17422120" cy="1084658"/>
            <a:chOff x="0" y="0"/>
            <a:chExt cx="13055452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55453" cy="812800"/>
            </a:xfrm>
            <a:custGeom>
              <a:avLst/>
              <a:gdLst/>
              <a:ahLst/>
              <a:cxnLst/>
              <a:rect r="r" b="b" t="t" l="l"/>
              <a:pathLst>
                <a:path h="812800" w="13055453">
                  <a:moveTo>
                    <a:pt x="5777" y="0"/>
                  </a:moveTo>
                  <a:lnTo>
                    <a:pt x="13049676" y="0"/>
                  </a:lnTo>
                  <a:cubicBezTo>
                    <a:pt x="13052867" y="0"/>
                    <a:pt x="13055453" y="2586"/>
                    <a:pt x="13055453" y="5777"/>
                  </a:cubicBezTo>
                  <a:lnTo>
                    <a:pt x="13055453" y="807023"/>
                  </a:lnTo>
                  <a:cubicBezTo>
                    <a:pt x="13055453" y="810214"/>
                    <a:pt x="13052867" y="812800"/>
                    <a:pt x="13049676" y="812800"/>
                  </a:cubicBezTo>
                  <a:lnTo>
                    <a:pt x="5777" y="812800"/>
                  </a:lnTo>
                  <a:cubicBezTo>
                    <a:pt x="2586" y="812800"/>
                    <a:pt x="0" y="810214"/>
                    <a:pt x="0" y="807023"/>
                  </a:cubicBezTo>
                  <a:lnTo>
                    <a:pt x="0" y="5777"/>
                  </a:lnTo>
                  <a:cubicBezTo>
                    <a:pt x="0" y="2586"/>
                    <a:pt x="2586" y="0"/>
                    <a:pt x="5777" y="0"/>
                  </a:cubicBezTo>
                  <a:close/>
                </a:path>
              </a:pathLst>
            </a:custGeom>
            <a:solidFill>
              <a:srgbClr val="0A0A0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3055452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86371" y="1177346"/>
            <a:ext cx="17422120" cy="897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>
                <a:solidFill>
                  <a:srgbClr val="FFFF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Key</a:t>
            </a:r>
            <a:r>
              <a:rPr lang="en-US" sz="5400">
                <a:solidFill>
                  <a:srgbClr val="FFFF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 Feature 2: </a:t>
            </a:r>
          </a:p>
          <a:p>
            <a:pPr algn="l">
              <a:lnSpc>
                <a:spcPts val="6501"/>
              </a:lnSpc>
            </a:pPr>
            <a:r>
              <a:rPr lang="en-US" sz="4643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Personalized Life Score 📊</a:t>
            </a:r>
          </a:p>
          <a:p>
            <a:pPr algn="l">
              <a:lnSpc>
                <a:spcPts val="3972"/>
              </a:lnSpc>
            </a:pPr>
          </a:p>
          <a:p>
            <a:pPr algn="l">
              <a:lnSpc>
                <a:spcPts val="4952"/>
              </a:lnSpc>
            </a:pPr>
            <a:r>
              <a:rPr lang="en-US" sz="3537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Not every person defines a “good decision” the same way. Each</a:t>
            </a:r>
          </a:p>
          <a:p>
            <a:pPr algn="l">
              <a:lnSpc>
                <a:spcPts val="4952"/>
              </a:lnSpc>
            </a:pPr>
            <a:r>
              <a:rPr lang="en-US" sz="3537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scenario can be evaluated using:</a:t>
            </a:r>
          </a:p>
          <a:p>
            <a:pPr algn="l" marL="738522" indent="-369261" lvl="1">
              <a:lnSpc>
                <a:spcPts val="4788"/>
              </a:lnSpc>
              <a:buFont typeface="Arial"/>
              <a:buChar char="•"/>
            </a:pPr>
            <a:r>
              <a:rPr lang="en-US" sz="342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⏳ Time Efficiency</a:t>
            </a:r>
          </a:p>
          <a:p>
            <a:pPr algn="l" marL="738522" indent="-369261" lvl="1">
              <a:lnSpc>
                <a:spcPts val="4788"/>
              </a:lnSpc>
              <a:buFont typeface="Arial"/>
              <a:buChar char="•"/>
            </a:pPr>
            <a:r>
              <a:rPr lang="en-US" sz="342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💰 Cost</a:t>
            </a:r>
          </a:p>
          <a:p>
            <a:pPr algn="l" marL="738522" indent="-369261" lvl="1">
              <a:lnSpc>
                <a:spcPts val="4788"/>
              </a:lnSpc>
              <a:buFont typeface="Arial"/>
              <a:buChar char="•"/>
            </a:pPr>
            <a:r>
              <a:rPr lang="en-US" sz="342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📚 Productivity</a:t>
            </a:r>
          </a:p>
          <a:p>
            <a:pPr algn="l" marL="738522" indent="-369261" lvl="1">
              <a:lnSpc>
                <a:spcPts val="4788"/>
              </a:lnSpc>
              <a:buFont typeface="Arial"/>
              <a:buChar char="•"/>
            </a:pPr>
            <a:r>
              <a:rPr lang="en-US" sz="342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😄 Fun</a:t>
            </a:r>
          </a:p>
          <a:p>
            <a:pPr algn="l" marL="738522" indent="-369261" lvl="1">
              <a:lnSpc>
                <a:spcPts val="4788"/>
              </a:lnSpc>
              <a:buFont typeface="Arial"/>
              <a:buChar char="•"/>
            </a:pPr>
            <a:r>
              <a:rPr lang="en-US" sz="342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🎯 Goal Completion</a:t>
            </a:r>
          </a:p>
          <a:p>
            <a:pPr algn="l" marL="738522" indent="-369261" lvl="1">
              <a:lnSpc>
                <a:spcPts val="4788"/>
              </a:lnSpc>
              <a:buFont typeface="Arial"/>
              <a:buChar char="•"/>
            </a:pPr>
            <a:r>
              <a:rPr lang="en-US" sz="342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🌱 Environmental Impact</a:t>
            </a:r>
          </a:p>
          <a:p>
            <a:pPr algn="ctr">
              <a:lnSpc>
                <a:spcPts val="3114"/>
              </a:lnSpc>
            </a:pPr>
          </a:p>
          <a:p>
            <a:pPr algn="ctr">
              <a:lnSpc>
                <a:spcPts val="3114"/>
              </a:lnSpc>
            </a:pPr>
          </a:p>
          <a:p>
            <a:pPr algn="ctr">
              <a:lnSpc>
                <a:spcPts val="4261"/>
              </a:lnSpc>
            </a:pPr>
          </a:p>
          <a:p>
            <a:pPr algn="ctr">
              <a:lnSpc>
                <a:spcPts val="4261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426760" y="5419720"/>
            <a:ext cx="4097435" cy="3175512"/>
          </a:xfrm>
          <a:custGeom>
            <a:avLst/>
            <a:gdLst/>
            <a:ahLst/>
            <a:cxnLst/>
            <a:rect r="r" b="b" t="t" l="l"/>
            <a:pathLst>
              <a:path h="3175512" w="4097435">
                <a:moveTo>
                  <a:pt x="0" y="0"/>
                </a:moveTo>
                <a:lnTo>
                  <a:pt x="4097435" y="0"/>
                </a:lnTo>
                <a:lnTo>
                  <a:pt x="4097435" y="3175512"/>
                </a:lnTo>
                <a:lnTo>
                  <a:pt x="0" y="31755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479600" y="1291646"/>
            <a:ext cx="4302362" cy="2237228"/>
          </a:xfrm>
          <a:custGeom>
            <a:avLst/>
            <a:gdLst/>
            <a:ahLst/>
            <a:cxnLst/>
            <a:rect r="r" b="b" t="t" l="l"/>
            <a:pathLst>
              <a:path h="2237228" w="4302362">
                <a:moveTo>
                  <a:pt x="0" y="0"/>
                </a:moveTo>
                <a:lnTo>
                  <a:pt x="4302362" y="0"/>
                </a:lnTo>
                <a:lnTo>
                  <a:pt x="4302362" y="2237228"/>
                </a:lnTo>
                <a:lnTo>
                  <a:pt x="0" y="22372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96276" y="394262"/>
            <a:ext cx="11826248" cy="61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0"/>
              </a:lnSpc>
            </a:pPr>
            <a:r>
              <a:rPr lang="en-US" sz="4640">
                <a:solidFill>
                  <a:srgbClr val="FFFAF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WHY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78243" y="394262"/>
            <a:ext cx="11500107" cy="61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9"/>
              </a:lnSpc>
            </a:pPr>
            <a:r>
              <a:rPr lang="en-US" sz="4639">
                <a:solidFill>
                  <a:srgbClr val="E17EE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CHOOSE YOUR CHAOS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38503" y="9086850"/>
            <a:ext cx="13036974" cy="160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Aloja"/>
                <a:ea typeface="Aloja"/>
                <a:cs typeface="Aloja"/>
                <a:sym typeface="Aloja"/>
              </a:rPr>
              <a:t>The twist: Users decide what matters most.</a:t>
            </a:r>
          </a:p>
          <a:p>
            <a:pPr algn="ctr">
              <a:lnSpc>
                <a:spcPts val="6019"/>
              </a:lnSpc>
            </a:p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6918" y="1484059"/>
            <a:ext cx="16413031" cy="6696497"/>
            <a:chOff x="0" y="0"/>
            <a:chExt cx="4322774" cy="1763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2774" cy="1763687"/>
            </a:xfrm>
            <a:custGeom>
              <a:avLst/>
              <a:gdLst/>
              <a:ahLst/>
              <a:cxnLst/>
              <a:rect r="r" b="b" t="t" l="l"/>
              <a:pathLst>
                <a:path h="1763687" w="4322774">
                  <a:moveTo>
                    <a:pt x="10849" y="0"/>
                  </a:moveTo>
                  <a:lnTo>
                    <a:pt x="4311925" y="0"/>
                  </a:lnTo>
                  <a:cubicBezTo>
                    <a:pt x="4317917" y="0"/>
                    <a:pt x="4322774" y="4857"/>
                    <a:pt x="4322774" y="10849"/>
                  </a:cubicBezTo>
                  <a:lnTo>
                    <a:pt x="4322774" y="1752838"/>
                  </a:lnTo>
                  <a:cubicBezTo>
                    <a:pt x="4322774" y="1758829"/>
                    <a:pt x="4317917" y="1763687"/>
                    <a:pt x="4311925" y="1763687"/>
                  </a:cubicBezTo>
                  <a:lnTo>
                    <a:pt x="10849" y="1763687"/>
                  </a:lnTo>
                  <a:cubicBezTo>
                    <a:pt x="7972" y="1763687"/>
                    <a:pt x="5212" y="1762544"/>
                    <a:pt x="3178" y="1760509"/>
                  </a:cubicBezTo>
                  <a:cubicBezTo>
                    <a:pt x="1143" y="1758474"/>
                    <a:pt x="0" y="1755715"/>
                    <a:pt x="0" y="1752838"/>
                  </a:cubicBezTo>
                  <a:lnTo>
                    <a:pt x="0" y="10849"/>
                  </a:lnTo>
                  <a:cubicBezTo>
                    <a:pt x="0" y="4857"/>
                    <a:pt x="4857" y="0"/>
                    <a:pt x="10849" y="0"/>
                  </a:cubicBezTo>
                  <a:close/>
                </a:path>
              </a:pathLst>
            </a:custGeom>
            <a:solidFill>
              <a:srgbClr val="E17E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322774" cy="1830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05127" y="8180556"/>
            <a:ext cx="13916613" cy="1801527"/>
            <a:chOff x="0" y="0"/>
            <a:chExt cx="10428563" cy="13499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28563" cy="1349993"/>
            </a:xfrm>
            <a:custGeom>
              <a:avLst/>
              <a:gdLst/>
              <a:ahLst/>
              <a:cxnLst/>
              <a:rect r="r" b="b" t="t" l="l"/>
              <a:pathLst>
                <a:path h="1349993" w="10428563">
                  <a:moveTo>
                    <a:pt x="7232" y="0"/>
                  </a:moveTo>
                  <a:lnTo>
                    <a:pt x="10421331" y="0"/>
                  </a:lnTo>
                  <a:cubicBezTo>
                    <a:pt x="10423249" y="0"/>
                    <a:pt x="10425088" y="762"/>
                    <a:pt x="10426444" y="2118"/>
                  </a:cubicBezTo>
                  <a:cubicBezTo>
                    <a:pt x="10427801" y="3474"/>
                    <a:pt x="10428563" y="5314"/>
                    <a:pt x="10428563" y="7232"/>
                  </a:cubicBezTo>
                  <a:lnTo>
                    <a:pt x="10428563" y="1342761"/>
                  </a:lnTo>
                  <a:cubicBezTo>
                    <a:pt x="10428563" y="1344680"/>
                    <a:pt x="10427801" y="1346519"/>
                    <a:pt x="10426444" y="1347875"/>
                  </a:cubicBezTo>
                  <a:cubicBezTo>
                    <a:pt x="10425088" y="1349232"/>
                    <a:pt x="10423249" y="1349993"/>
                    <a:pt x="10421331" y="1349993"/>
                  </a:cubicBezTo>
                  <a:lnTo>
                    <a:pt x="7232" y="1349993"/>
                  </a:lnTo>
                  <a:cubicBezTo>
                    <a:pt x="5314" y="1349993"/>
                    <a:pt x="3474" y="1349232"/>
                    <a:pt x="2118" y="1347875"/>
                  </a:cubicBezTo>
                  <a:cubicBezTo>
                    <a:pt x="762" y="1346519"/>
                    <a:pt x="0" y="1344680"/>
                    <a:pt x="0" y="1342761"/>
                  </a:cubicBezTo>
                  <a:lnTo>
                    <a:pt x="0" y="7232"/>
                  </a:lnTo>
                  <a:cubicBezTo>
                    <a:pt x="0" y="5314"/>
                    <a:pt x="762" y="3474"/>
                    <a:pt x="2118" y="2118"/>
                  </a:cubicBezTo>
                  <a:cubicBezTo>
                    <a:pt x="3474" y="762"/>
                    <a:pt x="5314" y="0"/>
                    <a:pt x="7232" y="0"/>
                  </a:cubicBezTo>
                  <a:close/>
                </a:path>
              </a:pathLst>
            </a:custGeom>
            <a:solidFill>
              <a:srgbClr val="0A0A0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428563" cy="1416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A0A0A"/>
                  </a:solidFill>
                  <a:latin typeface="Poppins"/>
                  <a:ea typeface="Poppins"/>
                  <a:cs typeface="Poppins"/>
                  <a:sym typeface="Poppins"/>
                </a:rPr>
                <a:t>One decision. Multiple possibilities.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567494" y="1814274"/>
            <a:ext cx="13096384" cy="582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2"/>
              </a:lnSpc>
            </a:pPr>
            <a:r>
              <a:rPr lang="en-US" sz="4344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KEY FEATURE 3:</a:t>
            </a:r>
          </a:p>
          <a:p>
            <a:pPr algn="ctr">
              <a:lnSpc>
                <a:spcPts val="4008"/>
              </a:lnSpc>
            </a:pPr>
            <a:r>
              <a:rPr lang="en-US" sz="2863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Real-World Context 🌍</a:t>
            </a:r>
          </a:p>
          <a:p>
            <a:pPr algn="ctr">
              <a:lnSpc>
                <a:spcPts val="4008"/>
              </a:lnSpc>
            </a:pPr>
            <a:r>
              <a:rPr lang="en-US" sz="2863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Choose Your Chaos? can potentially consider:</a:t>
            </a:r>
          </a:p>
          <a:p>
            <a:pPr algn="ctr">
              <a:lnSpc>
                <a:spcPts val="4008"/>
              </a:lnSpc>
            </a:pPr>
            <a:r>
              <a:rPr lang="en-US" sz="2863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🗺️ Maps → Travel time</a:t>
            </a:r>
          </a:p>
          <a:p>
            <a:pPr algn="ctr">
              <a:lnSpc>
                <a:spcPts val="4008"/>
              </a:lnSpc>
            </a:pPr>
            <a:r>
              <a:rPr lang="en-US" sz="2863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🌦️ Weather → Outdoor plans</a:t>
            </a:r>
          </a:p>
          <a:p>
            <a:pPr algn="ctr">
              <a:lnSpc>
                <a:spcPts val="4008"/>
              </a:lnSpc>
            </a:pPr>
            <a:r>
              <a:rPr lang="en-US" sz="2863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🎉 Events → Nearby activities</a:t>
            </a:r>
          </a:p>
          <a:p>
            <a:pPr algn="ctr">
              <a:lnSpc>
                <a:spcPts val="4008"/>
              </a:lnSpc>
            </a:pPr>
            <a:r>
              <a:rPr lang="en-US" sz="2863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🚇 Public Transport → Estimated travel time</a:t>
            </a:r>
          </a:p>
          <a:p>
            <a:pPr algn="ctr">
              <a:lnSpc>
                <a:spcPts val="4008"/>
              </a:lnSpc>
            </a:pPr>
            <a:r>
              <a:rPr lang="en-US" sz="2863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📅 Calendar → Existing commitments</a:t>
            </a:r>
          </a:p>
          <a:p>
            <a:pPr algn="ctr">
              <a:lnSpc>
                <a:spcPts val="4008"/>
              </a:lnSpc>
            </a:pPr>
            <a:r>
              <a:rPr lang="en-US" sz="2863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💰 Budget → Estimated expenses</a:t>
            </a:r>
          </a:p>
          <a:p>
            <a:pPr algn="ctr">
              <a:lnSpc>
                <a:spcPts val="4008"/>
              </a:lnSpc>
            </a:pPr>
            <a:r>
              <a:rPr lang="en-US" sz="2863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🕐 Opening Hours → Time constraints</a:t>
            </a:r>
          </a:p>
          <a:p>
            <a:pPr algn="ctr">
              <a:lnSpc>
                <a:spcPts val="4008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767841" y="1857539"/>
            <a:ext cx="2249269" cy="2069327"/>
          </a:xfrm>
          <a:custGeom>
            <a:avLst/>
            <a:gdLst/>
            <a:ahLst/>
            <a:cxnLst/>
            <a:rect r="r" b="b" t="t" l="l"/>
            <a:pathLst>
              <a:path h="2069327" w="2249269">
                <a:moveTo>
                  <a:pt x="0" y="0"/>
                </a:moveTo>
                <a:lnTo>
                  <a:pt x="2249269" y="0"/>
                </a:lnTo>
                <a:lnTo>
                  <a:pt x="2249269" y="2069327"/>
                </a:lnTo>
                <a:lnTo>
                  <a:pt x="0" y="20693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74660" y="1857539"/>
            <a:ext cx="2795290" cy="2599619"/>
          </a:xfrm>
          <a:custGeom>
            <a:avLst/>
            <a:gdLst/>
            <a:ahLst/>
            <a:cxnLst/>
            <a:rect r="r" b="b" t="t" l="l"/>
            <a:pathLst>
              <a:path h="2599619" w="2795290">
                <a:moveTo>
                  <a:pt x="0" y="0"/>
                </a:moveTo>
                <a:lnTo>
                  <a:pt x="2795289" y="0"/>
                </a:lnTo>
                <a:lnTo>
                  <a:pt x="2795289" y="2599619"/>
                </a:lnTo>
                <a:lnTo>
                  <a:pt x="0" y="2599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86450" y="4842138"/>
            <a:ext cx="2053308" cy="1714512"/>
          </a:xfrm>
          <a:custGeom>
            <a:avLst/>
            <a:gdLst/>
            <a:ahLst/>
            <a:cxnLst/>
            <a:rect r="r" b="b" t="t" l="l"/>
            <a:pathLst>
              <a:path h="1714512" w="2053308">
                <a:moveTo>
                  <a:pt x="0" y="0"/>
                </a:moveTo>
                <a:lnTo>
                  <a:pt x="2053309" y="0"/>
                </a:lnTo>
                <a:lnTo>
                  <a:pt x="2053309" y="1714512"/>
                </a:lnTo>
                <a:lnTo>
                  <a:pt x="0" y="1714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368989" y="5998688"/>
            <a:ext cx="2105503" cy="2181868"/>
          </a:xfrm>
          <a:custGeom>
            <a:avLst/>
            <a:gdLst/>
            <a:ahLst/>
            <a:cxnLst/>
            <a:rect r="r" b="b" t="t" l="l"/>
            <a:pathLst>
              <a:path h="2181868" w="2105503">
                <a:moveTo>
                  <a:pt x="0" y="0"/>
                </a:moveTo>
                <a:lnTo>
                  <a:pt x="2105503" y="0"/>
                </a:lnTo>
                <a:lnTo>
                  <a:pt x="2105503" y="2181868"/>
                </a:lnTo>
                <a:lnTo>
                  <a:pt x="0" y="21818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73197" y="5400429"/>
            <a:ext cx="1584023" cy="2312443"/>
          </a:xfrm>
          <a:custGeom>
            <a:avLst/>
            <a:gdLst/>
            <a:ahLst/>
            <a:cxnLst/>
            <a:rect r="r" b="b" t="t" l="l"/>
            <a:pathLst>
              <a:path h="2312443" w="1584023">
                <a:moveTo>
                  <a:pt x="0" y="0"/>
                </a:moveTo>
                <a:lnTo>
                  <a:pt x="1584023" y="0"/>
                </a:lnTo>
                <a:lnTo>
                  <a:pt x="1584023" y="2312443"/>
                </a:lnTo>
                <a:lnTo>
                  <a:pt x="0" y="23124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40521" y="394262"/>
            <a:ext cx="6767670" cy="61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9"/>
              </a:lnSpc>
            </a:pPr>
            <a:r>
              <a:rPr lang="en-US" sz="4639">
                <a:solidFill>
                  <a:srgbClr val="FFFAF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WHY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59193" y="394262"/>
            <a:ext cx="11500107" cy="61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0"/>
              </a:lnSpc>
            </a:pPr>
            <a:r>
              <a:rPr lang="en-US" sz="4640">
                <a:solidFill>
                  <a:srgbClr val="E17EE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CHOOSE YOUR CHAOS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05127" y="8647931"/>
            <a:ext cx="13916613" cy="7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A </a:t>
            </a:r>
            <a:r>
              <a:rPr lang="en-US" sz="449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decision doesn't happen in isolation.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6918" y="1484059"/>
            <a:ext cx="16413031" cy="6332220"/>
            <a:chOff x="0" y="0"/>
            <a:chExt cx="4322774" cy="1667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2774" cy="1667745"/>
            </a:xfrm>
            <a:custGeom>
              <a:avLst/>
              <a:gdLst/>
              <a:ahLst/>
              <a:cxnLst/>
              <a:rect r="r" b="b" t="t" l="l"/>
              <a:pathLst>
                <a:path h="1667745" w="4322774">
                  <a:moveTo>
                    <a:pt x="10849" y="0"/>
                  </a:moveTo>
                  <a:lnTo>
                    <a:pt x="4311925" y="0"/>
                  </a:lnTo>
                  <a:cubicBezTo>
                    <a:pt x="4317917" y="0"/>
                    <a:pt x="4322774" y="4857"/>
                    <a:pt x="4322774" y="10849"/>
                  </a:cubicBezTo>
                  <a:lnTo>
                    <a:pt x="4322774" y="1656896"/>
                  </a:lnTo>
                  <a:cubicBezTo>
                    <a:pt x="4322774" y="1662888"/>
                    <a:pt x="4317917" y="1667745"/>
                    <a:pt x="4311925" y="1667745"/>
                  </a:cubicBezTo>
                  <a:lnTo>
                    <a:pt x="10849" y="1667745"/>
                  </a:lnTo>
                  <a:cubicBezTo>
                    <a:pt x="7972" y="1667745"/>
                    <a:pt x="5212" y="1666602"/>
                    <a:pt x="3178" y="1664568"/>
                  </a:cubicBezTo>
                  <a:cubicBezTo>
                    <a:pt x="1143" y="1662533"/>
                    <a:pt x="0" y="1659773"/>
                    <a:pt x="0" y="1656896"/>
                  </a:cubicBezTo>
                  <a:lnTo>
                    <a:pt x="0" y="10849"/>
                  </a:lnTo>
                  <a:cubicBezTo>
                    <a:pt x="0" y="4857"/>
                    <a:pt x="4857" y="0"/>
                    <a:pt x="10849" y="0"/>
                  </a:cubicBezTo>
                  <a:close/>
                </a:path>
              </a:pathLst>
            </a:custGeom>
            <a:solidFill>
              <a:srgbClr val="E17E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322774" cy="1734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05127" y="8180556"/>
            <a:ext cx="13916613" cy="1801527"/>
            <a:chOff x="0" y="0"/>
            <a:chExt cx="10428563" cy="13499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28563" cy="1349993"/>
            </a:xfrm>
            <a:custGeom>
              <a:avLst/>
              <a:gdLst/>
              <a:ahLst/>
              <a:cxnLst/>
              <a:rect r="r" b="b" t="t" l="l"/>
              <a:pathLst>
                <a:path h="1349993" w="10428563">
                  <a:moveTo>
                    <a:pt x="7232" y="0"/>
                  </a:moveTo>
                  <a:lnTo>
                    <a:pt x="10421331" y="0"/>
                  </a:lnTo>
                  <a:cubicBezTo>
                    <a:pt x="10423249" y="0"/>
                    <a:pt x="10425088" y="762"/>
                    <a:pt x="10426444" y="2118"/>
                  </a:cubicBezTo>
                  <a:cubicBezTo>
                    <a:pt x="10427801" y="3474"/>
                    <a:pt x="10428563" y="5314"/>
                    <a:pt x="10428563" y="7232"/>
                  </a:cubicBezTo>
                  <a:lnTo>
                    <a:pt x="10428563" y="1342761"/>
                  </a:lnTo>
                  <a:cubicBezTo>
                    <a:pt x="10428563" y="1344680"/>
                    <a:pt x="10427801" y="1346519"/>
                    <a:pt x="10426444" y="1347875"/>
                  </a:cubicBezTo>
                  <a:cubicBezTo>
                    <a:pt x="10425088" y="1349232"/>
                    <a:pt x="10423249" y="1349993"/>
                    <a:pt x="10421331" y="1349993"/>
                  </a:cubicBezTo>
                  <a:lnTo>
                    <a:pt x="7232" y="1349993"/>
                  </a:lnTo>
                  <a:cubicBezTo>
                    <a:pt x="5314" y="1349993"/>
                    <a:pt x="3474" y="1349232"/>
                    <a:pt x="2118" y="1347875"/>
                  </a:cubicBezTo>
                  <a:cubicBezTo>
                    <a:pt x="762" y="1346519"/>
                    <a:pt x="0" y="1344680"/>
                    <a:pt x="0" y="1342761"/>
                  </a:cubicBezTo>
                  <a:lnTo>
                    <a:pt x="0" y="7232"/>
                  </a:lnTo>
                  <a:cubicBezTo>
                    <a:pt x="0" y="5314"/>
                    <a:pt x="762" y="3474"/>
                    <a:pt x="2118" y="2118"/>
                  </a:cubicBezTo>
                  <a:cubicBezTo>
                    <a:pt x="3474" y="762"/>
                    <a:pt x="5314" y="0"/>
                    <a:pt x="7232" y="0"/>
                  </a:cubicBezTo>
                  <a:close/>
                </a:path>
              </a:pathLst>
            </a:custGeom>
            <a:solidFill>
              <a:srgbClr val="0A0A0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428563" cy="1416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A0A0A"/>
                  </a:solidFill>
                  <a:latin typeface="Poppins"/>
                  <a:ea typeface="Poppins"/>
                  <a:cs typeface="Poppins"/>
                  <a:sym typeface="Poppins"/>
                </a:rPr>
                <a:t>One decision. Multiple possibilities.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320254" y="1028700"/>
            <a:ext cx="2698412" cy="2644443"/>
          </a:xfrm>
          <a:custGeom>
            <a:avLst/>
            <a:gdLst/>
            <a:ahLst/>
            <a:cxnLst/>
            <a:rect r="r" b="b" t="t" l="l"/>
            <a:pathLst>
              <a:path h="2644443" w="2698412">
                <a:moveTo>
                  <a:pt x="0" y="0"/>
                </a:moveTo>
                <a:lnTo>
                  <a:pt x="2698412" y="0"/>
                </a:lnTo>
                <a:lnTo>
                  <a:pt x="2698412" y="2644443"/>
                </a:lnTo>
                <a:lnTo>
                  <a:pt x="0" y="2644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20254" y="7129240"/>
            <a:ext cx="3227882" cy="3227882"/>
          </a:xfrm>
          <a:custGeom>
            <a:avLst/>
            <a:gdLst/>
            <a:ahLst/>
            <a:cxnLst/>
            <a:rect r="r" b="b" t="t" l="l"/>
            <a:pathLst>
              <a:path h="3227882" w="3227882">
                <a:moveTo>
                  <a:pt x="0" y="0"/>
                </a:moveTo>
                <a:lnTo>
                  <a:pt x="3227882" y="0"/>
                </a:lnTo>
                <a:lnTo>
                  <a:pt x="3227882" y="3227882"/>
                </a:lnTo>
                <a:lnTo>
                  <a:pt x="0" y="3227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40521" y="394262"/>
            <a:ext cx="6767670" cy="61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9"/>
              </a:lnSpc>
            </a:pPr>
            <a:r>
              <a:rPr lang="en-US" sz="4639">
                <a:solidFill>
                  <a:srgbClr val="FFFAF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WHY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59193" y="394262"/>
            <a:ext cx="11500107" cy="61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9"/>
              </a:lnSpc>
            </a:pPr>
            <a:r>
              <a:rPr lang="en-US" sz="4639">
                <a:solidFill>
                  <a:srgbClr val="E17EE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CHOOSE YOUR CHAOS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7822" y="1369759"/>
            <a:ext cx="15911223" cy="723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399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KEY FEATURE 4:</a:t>
            </a:r>
          </a:p>
          <a:p>
            <a:pPr algn="l">
              <a:lnSpc>
                <a:spcPts val="6440"/>
              </a:lnSpc>
            </a:pPr>
            <a:r>
              <a:rPr lang="en-US" sz="4600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Ripple</a:t>
            </a:r>
            <a:r>
              <a:rPr lang="en-US" sz="4600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Effect 🌊</a:t>
            </a:r>
          </a:p>
          <a:p>
            <a:pPr algn="l">
              <a:lnSpc>
                <a:spcPts val="4620"/>
              </a:lnSpc>
            </a:pP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Decision → Immediate Impact → Tomorrow → Future Plans</a:t>
            </a: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Example:</a:t>
            </a: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“What if I change my schedule tonight?”</a:t>
            </a: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Tonight → Tomorrow → Classes → Study → Evening Plans</a:t>
            </a: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Based on your inputs and assumptions.</a:t>
            </a:r>
          </a:p>
          <a:p>
            <a:pPr algn="ctr">
              <a:lnSpc>
                <a:spcPts val="4620"/>
              </a:lnSpc>
            </a:pPr>
          </a:p>
          <a:p>
            <a:pPr algn="ctr">
              <a:lnSpc>
                <a:spcPts val="63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505127" y="8647931"/>
            <a:ext cx="13916613" cy="7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See B</a:t>
            </a:r>
            <a:r>
              <a:rPr lang="en-US" sz="449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eyond the Immediate Outcome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117">
                <a:alpha val="100000"/>
              </a:srgbClr>
            </a:gs>
            <a:gs pos="100000">
              <a:srgbClr val="0E172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48664" y="-370063"/>
            <a:ext cx="10673753" cy="11294975"/>
          </a:xfrm>
          <a:custGeom>
            <a:avLst/>
            <a:gdLst/>
            <a:ahLst/>
            <a:cxnLst/>
            <a:rect r="r" b="b" t="t" l="l"/>
            <a:pathLst>
              <a:path h="11294975" w="10673753">
                <a:moveTo>
                  <a:pt x="0" y="0"/>
                </a:moveTo>
                <a:lnTo>
                  <a:pt x="10673753" y="0"/>
                </a:lnTo>
                <a:lnTo>
                  <a:pt x="10673753" y="11294975"/>
                </a:lnTo>
                <a:lnTo>
                  <a:pt x="0" y="112949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 l="-582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8108" y="5874181"/>
            <a:ext cx="2818638" cy="4114800"/>
          </a:xfrm>
          <a:custGeom>
            <a:avLst/>
            <a:gdLst/>
            <a:ahLst/>
            <a:cxnLst/>
            <a:rect r="r" b="b" t="t" l="l"/>
            <a:pathLst>
              <a:path h="4114800" w="2818638">
                <a:moveTo>
                  <a:pt x="0" y="0"/>
                </a:moveTo>
                <a:lnTo>
                  <a:pt x="2818638" y="0"/>
                </a:lnTo>
                <a:lnTo>
                  <a:pt x="28186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4444" y="0"/>
            <a:ext cx="6546009" cy="6818760"/>
          </a:xfrm>
          <a:custGeom>
            <a:avLst/>
            <a:gdLst/>
            <a:ahLst/>
            <a:cxnLst/>
            <a:rect r="r" b="b" t="t" l="l"/>
            <a:pathLst>
              <a:path h="6818760" w="6546009">
                <a:moveTo>
                  <a:pt x="0" y="0"/>
                </a:moveTo>
                <a:lnTo>
                  <a:pt x="6546009" y="0"/>
                </a:lnTo>
                <a:lnTo>
                  <a:pt x="6546009" y="6818760"/>
                </a:lnTo>
                <a:lnTo>
                  <a:pt x="0" y="68187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63151" y="556400"/>
            <a:ext cx="5635498" cy="9442049"/>
          </a:xfrm>
          <a:custGeom>
            <a:avLst/>
            <a:gdLst/>
            <a:ahLst/>
            <a:cxnLst/>
            <a:rect r="r" b="b" t="t" l="l"/>
            <a:pathLst>
              <a:path h="9442049" w="5635498">
                <a:moveTo>
                  <a:pt x="0" y="0"/>
                </a:moveTo>
                <a:lnTo>
                  <a:pt x="5635498" y="0"/>
                </a:lnTo>
                <a:lnTo>
                  <a:pt x="5635498" y="9442048"/>
                </a:lnTo>
                <a:lnTo>
                  <a:pt x="0" y="94420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770" r="0" b="-377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04150" y="5602506"/>
            <a:ext cx="3641598" cy="4114800"/>
          </a:xfrm>
          <a:custGeom>
            <a:avLst/>
            <a:gdLst/>
            <a:ahLst/>
            <a:cxnLst/>
            <a:rect r="r" b="b" t="t" l="l"/>
            <a:pathLst>
              <a:path h="4114800" w="3641598">
                <a:moveTo>
                  <a:pt x="0" y="0"/>
                </a:moveTo>
                <a:lnTo>
                  <a:pt x="3641598" y="0"/>
                </a:lnTo>
                <a:lnTo>
                  <a:pt x="36415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604882">
            <a:off x="8483614" y="3698642"/>
            <a:ext cx="3673710" cy="2167489"/>
          </a:xfrm>
          <a:custGeom>
            <a:avLst/>
            <a:gdLst/>
            <a:ahLst/>
            <a:cxnLst/>
            <a:rect r="r" b="b" t="t" l="l"/>
            <a:pathLst>
              <a:path h="2167489" w="3673710">
                <a:moveTo>
                  <a:pt x="0" y="0"/>
                </a:moveTo>
                <a:lnTo>
                  <a:pt x="3673711" y="0"/>
                </a:lnTo>
                <a:lnTo>
                  <a:pt x="3673711" y="2167489"/>
                </a:lnTo>
                <a:lnTo>
                  <a:pt x="0" y="21674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77427" y="1418203"/>
            <a:ext cx="3780043" cy="46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7"/>
              </a:lnSpc>
            </a:pPr>
            <a:r>
              <a:rPr lang="en-US" sz="4046">
                <a:solidFill>
                  <a:srgbClr val="3BB371"/>
                </a:solidFill>
                <a:latin typeface="210 8비트"/>
                <a:ea typeface="210 8비트"/>
                <a:cs typeface="210 8비트"/>
                <a:sym typeface="210 8비트"/>
              </a:rPr>
              <a:t>it’s 5pm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1599" y="2397871"/>
            <a:ext cx="5031699" cy="205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4"/>
              </a:lnSpc>
            </a:pPr>
            <a:r>
              <a:rPr lang="en-US" sz="3318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Rs.300 available</a:t>
            </a:r>
          </a:p>
          <a:p>
            <a:pPr algn="ctr">
              <a:lnSpc>
                <a:spcPts val="2654"/>
              </a:lnSpc>
            </a:pPr>
            <a:r>
              <a:rPr lang="en-US" sz="3318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3 hours free</a:t>
            </a:r>
          </a:p>
          <a:p>
            <a:pPr algn="ctr">
              <a:lnSpc>
                <a:spcPts val="2654"/>
              </a:lnSpc>
            </a:pPr>
            <a:r>
              <a:rPr lang="en-US" sz="3318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assignment due tomorrow</a:t>
            </a:r>
          </a:p>
          <a:p>
            <a:pPr algn="ctr">
              <a:lnSpc>
                <a:spcPts val="2654"/>
              </a:lnSpc>
            </a:pPr>
            <a:r>
              <a:rPr lang="en-US" sz="3318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friend wants to go 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04150" y="6578021"/>
            <a:ext cx="3780043" cy="220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4246">
                <a:solidFill>
                  <a:srgbClr val="FB638D"/>
                </a:solidFill>
                <a:latin typeface="210 8비트"/>
                <a:ea typeface="210 8비트"/>
                <a:cs typeface="210 8비트"/>
                <a:sym typeface="210 8비트"/>
              </a:rPr>
              <a:t>The user </a:t>
            </a:r>
          </a:p>
          <a:p>
            <a:pPr algn="ctr">
              <a:lnSpc>
                <a:spcPts val="3397"/>
              </a:lnSpc>
            </a:pPr>
          </a:p>
          <a:p>
            <a:pPr algn="ctr">
              <a:lnSpc>
                <a:spcPts val="3397"/>
              </a:lnSpc>
            </a:pPr>
            <a:r>
              <a:rPr lang="en-US" sz="4246">
                <a:solidFill>
                  <a:srgbClr val="FB638D"/>
                </a:solidFill>
                <a:latin typeface="210 8비트"/>
                <a:ea typeface="210 8비트"/>
                <a:cs typeface="210 8비트"/>
                <a:sym typeface="210 8비트"/>
              </a:rPr>
              <a:t>asks </a:t>
            </a:r>
          </a:p>
          <a:p>
            <a:pPr algn="ctr">
              <a:lnSpc>
                <a:spcPts val="3397"/>
              </a:lnSpc>
            </a:pPr>
          </a:p>
          <a:p>
            <a:pPr algn="ctr">
              <a:lnSpc>
                <a:spcPts val="3397"/>
              </a:lnSpc>
            </a:pPr>
            <a:r>
              <a:rPr lang="en-US" sz="4246">
                <a:solidFill>
                  <a:srgbClr val="FB638D"/>
                </a:solidFill>
                <a:latin typeface="210 8비트"/>
                <a:ea typeface="210 8비트"/>
                <a:cs typeface="210 8비트"/>
                <a:sym typeface="210 8비트"/>
              </a:rPr>
              <a:t>“what if”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57651" y="682101"/>
            <a:ext cx="2895439" cy="248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4"/>
              </a:lnSpc>
            </a:pPr>
            <a:r>
              <a:rPr lang="en-US" sz="4903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choose your chaos 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65050" y="2397871"/>
            <a:ext cx="5031699" cy="587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4"/>
              </a:lnSpc>
            </a:pPr>
            <a:r>
              <a:rPr lang="en-US" sz="3418">
                <a:solidFill>
                  <a:srgbClr val="003268"/>
                </a:solidFill>
                <a:latin typeface="210 8비트"/>
                <a:ea typeface="210 8비트"/>
                <a:cs typeface="210 8비트"/>
                <a:sym typeface="210 8비트"/>
              </a:rPr>
              <a:t>📚 Productivity</a:t>
            </a:r>
          </a:p>
          <a:p>
            <a:pPr algn="ctr">
              <a:lnSpc>
                <a:spcPts val="2734"/>
              </a:lnSpc>
            </a:pPr>
          </a:p>
          <a:p>
            <a:pPr algn="ctr">
              <a:lnSpc>
                <a:spcPts val="1934"/>
              </a:lnSpc>
            </a:pPr>
            <a:r>
              <a:rPr lang="en-US" sz="2418">
                <a:solidFill>
                  <a:srgbClr val="003268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Study → Café → Home</a:t>
            </a:r>
          </a:p>
          <a:p>
            <a:pPr algn="ctr">
              <a:lnSpc>
                <a:spcPts val="1934"/>
              </a:lnSpc>
            </a:pPr>
          </a:p>
          <a:p>
            <a:pPr algn="ctr">
              <a:lnSpc>
                <a:spcPts val="2254"/>
              </a:lnSpc>
            </a:pPr>
            <a:r>
              <a:rPr lang="en-US" sz="2818">
                <a:solidFill>
                  <a:srgbClr val="003268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Assignment Progress: 85%</a:t>
            </a:r>
          </a:p>
          <a:p>
            <a:pPr algn="ctr">
              <a:lnSpc>
                <a:spcPts val="2734"/>
              </a:lnSpc>
            </a:pPr>
          </a:p>
          <a:p>
            <a:pPr algn="ctr">
              <a:lnSpc>
                <a:spcPts val="2734"/>
              </a:lnSpc>
            </a:pPr>
            <a:r>
              <a:rPr lang="en-US" sz="3418">
                <a:solidFill>
                  <a:srgbClr val="003268"/>
                </a:solidFill>
                <a:latin typeface="210 8비트"/>
                <a:ea typeface="210 8비트"/>
                <a:cs typeface="210 8비트"/>
                <a:sym typeface="210 8비트"/>
              </a:rPr>
              <a:t>👥 Social</a:t>
            </a:r>
          </a:p>
          <a:p>
            <a:pPr algn="ctr">
              <a:lnSpc>
                <a:spcPts val="2734"/>
              </a:lnSpc>
            </a:pPr>
          </a:p>
          <a:p>
            <a:pPr algn="ctr">
              <a:lnSpc>
                <a:spcPts val="1934"/>
              </a:lnSpc>
            </a:pPr>
            <a:r>
              <a:rPr lang="en-US" sz="2418">
                <a:solidFill>
                  <a:srgbClr val="003268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Hangout → Activity → Study</a:t>
            </a:r>
          </a:p>
          <a:p>
            <a:pPr algn="ctr">
              <a:lnSpc>
                <a:spcPts val="1934"/>
              </a:lnSpc>
            </a:pPr>
          </a:p>
          <a:p>
            <a:pPr algn="ctr">
              <a:lnSpc>
                <a:spcPts val="2254"/>
              </a:lnSpc>
            </a:pPr>
            <a:r>
              <a:rPr lang="en-US" sz="2818">
                <a:solidFill>
                  <a:srgbClr val="003268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Assignment Progress: 55%</a:t>
            </a:r>
          </a:p>
          <a:p>
            <a:pPr algn="ctr">
              <a:lnSpc>
                <a:spcPts val="2734"/>
              </a:lnSpc>
            </a:pPr>
          </a:p>
          <a:p>
            <a:pPr algn="ctr">
              <a:lnSpc>
                <a:spcPts val="2734"/>
              </a:lnSpc>
            </a:pPr>
            <a:r>
              <a:rPr lang="en-US" sz="3418">
                <a:solidFill>
                  <a:srgbClr val="003268"/>
                </a:solidFill>
                <a:latin typeface="210 8비트"/>
                <a:ea typeface="210 8비트"/>
                <a:cs typeface="210 8비트"/>
                <a:sym typeface="210 8비트"/>
              </a:rPr>
              <a:t>⚖️ Balanced</a:t>
            </a:r>
          </a:p>
          <a:p>
            <a:pPr algn="ctr">
              <a:lnSpc>
                <a:spcPts val="2734"/>
              </a:lnSpc>
            </a:pPr>
          </a:p>
          <a:p>
            <a:pPr algn="ctr">
              <a:lnSpc>
                <a:spcPts val="1694"/>
              </a:lnSpc>
            </a:pPr>
            <a:r>
              <a:rPr lang="en-US" sz="2118">
                <a:solidFill>
                  <a:srgbClr val="003268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Study → Hangout → Travel</a:t>
            </a:r>
          </a:p>
          <a:p>
            <a:pPr algn="ctr">
              <a:lnSpc>
                <a:spcPts val="1694"/>
              </a:lnSpc>
            </a:pPr>
          </a:p>
          <a:p>
            <a:pPr algn="ctr">
              <a:lnSpc>
                <a:spcPts val="2254"/>
              </a:lnSpc>
            </a:pPr>
            <a:r>
              <a:rPr lang="en-US" sz="2818">
                <a:solidFill>
                  <a:srgbClr val="003268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Assignment Progress: 75%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670">
                <a:alpha val="100000"/>
              </a:srgbClr>
            </a:gs>
            <a:gs pos="50000">
              <a:srgbClr val="0A16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4852" y="0"/>
            <a:ext cx="3867886" cy="3906955"/>
          </a:xfrm>
          <a:custGeom>
            <a:avLst/>
            <a:gdLst/>
            <a:ahLst/>
            <a:cxnLst/>
            <a:rect r="r" b="b" t="t" l="l"/>
            <a:pathLst>
              <a:path h="3906955" w="3867886">
                <a:moveTo>
                  <a:pt x="0" y="0"/>
                </a:moveTo>
                <a:lnTo>
                  <a:pt x="3867885" y="0"/>
                </a:lnTo>
                <a:lnTo>
                  <a:pt x="3867885" y="3906955"/>
                </a:lnTo>
                <a:lnTo>
                  <a:pt x="0" y="3906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3559" y="1877278"/>
            <a:ext cx="16230600" cy="771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3012" indent="-436506" lvl="1">
              <a:lnSpc>
                <a:spcPts val="5661"/>
              </a:lnSpc>
              <a:buFont typeface="Arial"/>
              <a:buChar char="•"/>
            </a:pPr>
            <a:r>
              <a:rPr lang="en-US" sz="4043">
                <a:solidFill>
                  <a:srgbClr val="C1FF72"/>
                </a:solidFill>
                <a:latin typeface="210 8비트"/>
                <a:ea typeface="210 8비트"/>
                <a:cs typeface="210 8비트"/>
                <a:sym typeface="210 8비트"/>
              </a:rPr>
              <a:t> Replit : </a:t>
            </a:r>
            <a:r>
              <a:rPr lang="en-US" sz="4043">
                <a:solidFill>
                  <a:srgbClr val="FFFAFA"/>
                </a:solidFill>
                <a:latin typeface="210 8비트"/>
                <a:ea typeface="210 8비트"/>
                <a:cs typeface="210 8비트"/>
                <a:sym typeface="210 8비트"/>
              </a:rPr>
              <a:t>Development, AI-assisted coding &amp; deployment</a:t>
            </a:r>
          </a:p>
          <a:p>
            <a:pPr algn="ctr">
              <a:lnSpc>
                <a:spcPts val="5661"/>
              </a:lnSpc>
            </a:pPr>
          </a:p>
          <a:p>
            <a:pPr algn="l" marL="873012" indent="-436506" lvl="1">
              <a:lnSpc>
                <a:spcPts val="5661"/>
              </a:lnSpc>
              <a:buFont typeface="Arial"/>
              <a:buChar char="•"/>
            </a:pPr>
            <a:r>
              <a:rPr lang="en-US" sz="4043">
                <a:solidFill>
                  <a:srgbClr val="C1FF72"/>
                </a:solidFill>
                <a:latin typeface="210 8비트"/>
                <a:ea typeface="210 8비트"/>
                <a:cs typeface="210 8비트"/>
                <a:sym typeface="210 8비트"/>
              </a:rPr>
              <a:t> AI Integration :</a:t>
            </a:r>
            <a:r>
              <a:rPr lang="en-US" sz="4043">
                <a:solidFill>
                  <a:srgbClr val="FFFAFA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sz="4043">
                <a:solidFill>
                  <a:srgbClr val="FFFAFA"/>
                </a:solidFill>
                <a:latin typeface="210 8비트"/>
                <a:ea typeface="210 8비트"/>
                <a:cs typeface="210 8비트"/>
                <a:sym typeface="210 8비트"/>
              </a:rPr>
              <a:t>AI-powered scenario generation and decision simulation</a:t>
            </a:r>
          </a:p>
          <a:p>
            <a:pPr algn="l">
              <a:lnSpc>
                <a:spcPts val="5661"/>
              </a:lnSpc>
            </a:pPr>
          </a:p>
          <a:p>
            <a:pPr algn="l" marL="873012" indent="-436506" lvl="1">
              <a:lnSpc>
                <a:spcPts val="5661"/>
              </a:lnSpc>
              <a:buFont typeface="Arial"/>
              <a:buChar char="•"/>
            </a:pPr>
            <a:r>
              <a:rPr lang="en-US" sz="4043">
                <a:solidFill>
                  <a:srgbClr val="C1FF72"/>
                </a:solidFill>
                <a:latin typeface="210 8비트"/>
                <a:ea typeface="210 8비트"/>
                <a:cs typeface="210 8비트"/>
                <a:sym typeface="210 8비트"/>
              </a:rPr>
              <a:t> Web Technologies : </a:t>
            </a:r>
            <a:r>
              <a:rPr lang="en-US" sz="4043">
                <a:solidFill>
                  <a:srgbClr val="FFFAFA"/>
                </a:solidFill>
                <a:latin typeface="210 8비트"/>
                <a:ea typeface="210 8비트"/>
                <a:cs typeface="210 8비트"/>
                <a:sym typeface="210 8비트"/>
              </a:rPr>
              <a:t>Used through Replit to build the interactive website</a:t>
            </a:r>
          </a:p>
          <a:p>
            <a:pPr algn="ctr">
              <a:lnSpc>
                <a:spcPts val="5661"/>
              </a:lnSpc>
            </a:pPr>
          </a:p>
          <a:p>
            <a:pPr algn="l" marL="873012" indent="-436506" lvl="1">
              <a:lnSpc>
                <a:spcPts val="5661"/>
              </a:lnSpc>
              <a:buFont typeface="Arial"/>
              <a:buChar char="•"/>
            </a:pPr>
            <a:r>
              <a:rPr lang="en-US" sz="4043">
                <a:solidFill>
                  <a:srgbClr val="FFFAFA"/>
                </a:solidFill>
                <a:latin typeface="210 8비트"/>
                <a:ea typeface="210 8비트"/>
                <a:cs typeface="210 8비트"/>
                <a:sym typeface="210 8비트"/>
              </a:rPr>
              <a:t>Rapidly prototyped and deployed using Replit</a:t>
            </a:r>
          </a:p>
          <a:p>
            <a:pPr algn="ctr">
              <a:lnSpc>
                <a:spcPts val="468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265507" y="508000"/>
            <a:ext cx="11175504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A1E5D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TECHNOLOGY STACK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5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613" y="-132736"/>
            <a:ext cx="9348087" cy="10419736"/>
            <a:chOff x="0" y="0"/>
            <a:chExt cx="2462048" cy="27442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2048" cy="2744293"/>
            </a:xfrm>
            <a:custGeom>
              <a:avLst/>
              <a:gdLst/>
              <a:ahLst/>
              <a:cxnLst/>
              <a:rect r="r" b="b" t="t" l="l"/>
              <a:pathLst>
                <a:path h="2744293" w="2462048">
                  <a:moveTo>
                    <a:pt x="0" y="0"/>
                  </a:moveTo>
                  <a:lnTo>
                    <a:pt x="2462048" y="0"/>
                  </a:lnTo>
                  <a:lnTo>
                    <a:pt x="2462048" y="2744293"/>
                  </a:lnTo>
                  <a:lnTo>
                    <a:pt x="0" y="2744293"/>
                  </a:lnTo>
                  <a:close/>
                </a:path>
              </a:pathLst>
            </a:custGeom>
            <a:solidFill>
              <a:srgbClr val="2E1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62048" cy="2782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000684" y="1695645"/>
            <a:ext cx="8944279" cy="8944279"/>
          </a:xfrm>
          <a:custGeom>
            <a:avLst/>
            <a:gdLst/>
            <a:ahLst/>
            <a:cxnLst/>
            <a:rect r="r" b="b" t="t" l="l"/>
            <a:pathLst>
              <a:path h="8944279" w="8944279">
                <a:moveTo>
                  <a:pt x="0" y="0"/>
                </a:moveTo>
                <a:lnTo>
                  <a:pt x="8944279" y="0"/>
                </a:lnTo>
                <a:lnTo>
                  <a:pt x="8944279" y="8944279"/>
                </a:lnTo>
                <a:lnTo>
                  <a:pt x="0" y="8944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706" y="1933664"/>
            <a:ext cx="9022445" cy="9022445"/>
          </a:xfrm>
          <a:custGeom>
            <a:avLst/>
            <a:gdLst/>
            <a:ahLst/>
            <a:cxnLst/>
            <a:rect r="r" b="b" t="t" l="l"/>
            <a:pathLst>
              <a:path h="9022445" w="9022445">
                <a:moveTo>
                  <a:pt x="0" y="0"/>
                </a:moveTo>
                <a:lnTo>
                  <a:pt x="9022445" y="0"/>
                </a:lnTo>
                <a:lnTo>
                  <a:pt x="9022445" y="9022444"/>
                </a:lnTo>
                <a:lnTo>
                  <a:pt x="0" y="9022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70789" y="80640"/>
            <a:ext cx="8052680" cy="3230010"/>
            <a:chOff x="0" y="0"/>
            <a:chExt cx="2120870" cy="8507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0870" cy="850702"/>
            </a:xfrm>
            <a:custGeom>
              <a:avLst/>
              <a:gdLst/>
              <a:ahLst/>
              <a:cxnLst/>
              <a:rect r="r" b="b" t="t" l="l"/>
              <a:pathLst>
                <a:path h="850702" w="2120870">
                  <a:moveTo>
                    <a:pt x="0" y="0"/>
                  </a:moveTo>
                  <a:lnTo>
                    <a:pt x="2120870" y="0"/>
                  </a:lnTo>
                  <a:lnTo>
                    <a:pt x="2120870" y="850702"/>
                  </a:lnTo>
                  <a:lnTo>
                    <a:pt x="0" y="850702"/>
                  </a:lnTo>
                  <a:close/>
                </a:path>
              </a:pathLst>
            </a:custGeom>
            <a:solidFill>
              <a:srgbClr val="4C0A9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20870" cy="888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80399" y="80640"/>
            <a:ext cx="7999126" cy="3230010"/>
            <a:chOff x="0" y="0"/>
            <a:chExt cx="2106766" cy="8507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6766" cy="850702"/>
            </a:xfrm>
            <a:custGeom>
              <a:avLst/>
              <a:gdLst/>
              <a:ahLst/>
              <a:cxnLst/>
              <a:rect r="r" b="b" t="t" l="l"/>
              <a:pathLst>
                <a:path h="850702" w="2106766">
                  <a:moveTo>
                    <a:pt x="0" y="0"/>
                  </a:moveTo>
                  <a:lnTo>
                    <a:pt x="2106766" y="0"/>
                  </a:lnTo>
                  <a:lnTo>
                    <a:pt x="2106766" y="850702"/>
                  </a:lnTo>
                  <a:lnTo>
                    <a:pt x="0" y="850702"/>
                  </a:lnTo>
                  <a:close/>
                </a:path>
              </a:pathLst>
            </a:custGeom>
            <a:solidFill>
              <a:srgbClr val="E17EE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06766" cy="888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338146" y="1034336"/>
            <a:ext cx="1798657" cy="179865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259919" y="1076777"/>
            <a:ext cx="342875" cy="325420"/>
          </a:xfrm>
          <a:custGeom>
            <a:avLst/>
            <a:gdLst/>
            <a:ahLst/>
            <a:cxnLst/>
            <a:rect r="r" b="b" t="t" l="l"/>
            <a:pathLst>
              <a:path h="325420" w="342875">
                <a:moveTo>
                  <a:pt x="0" y="0"/>
                </a:moveTo>
                <a:lnTo>
                  <a:pt x="342876" y="0"/>
                </a:lnTo>
                <a:lnTo>
                  <a:pt x="342876" y="325419"/>
                </a:lnTo>
                <a:lnTo>
                  <a:pt x="0" y="325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197448" y="7039280"/>
            <a:ext cx="342875" cy="325420"/>
          </a:xfrm>
          <a:custGeom>
            <a:avLst/>
            <a:gdLst/>
            <a:ahLst/>
            <a:cxnLst/>
            <a:rect r="r" b="b" t="t" l="l"/>
            <a:pathLst>
              <a:path h="325420" w="342875">
                <a:moveTo>
                  <a:pt x="0" y="0"/>
                </a:moveTo>
                <a:lnTo>
                  <a:pt x="342875" y="0"/>
                </a:lnTo>
                <a:lnTo>
                  <a:pt x="342875" y="325420"/>
                </a:lnTo>
                <a:lnTo>
                  <a:pt x="0" y="3254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846875" y="814868"/>
            <a:ext cx="342875" cy="325420"/>
          </a:xfrm>
          <a:custGeom>
            <a:avLst/>
            <a:gdLst/>
            <a:ahLst/>
            <a:cxnLst/>
            <a:rect r="r" b="b" t="t" l="l"/>
            <a:pathLst>
              <a:path h="325420" w="342875">
                <a:moveTo>
                  <a:pt x="0" y="0"/>
                </a:moveTo>
                <a:lnTo>
                  <a:pt x="342875" y="0"/>
                </a:lnTo>
                <a:lnTo>
                  <a:pt x="342875" y="325420"/>
                </a:lnTo>
                <a:lnTo>
                  <a:pt x="0" y="3254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91159" y="4455429"/>
            <a:ext cx="223272" cy="211905"/>
          </a:xfrm>
          <a:custGeom>
            <a:avLst/>
            <a:gdLst/>
            <a:ahLst/>
            <a:cxnLst/>
            <a:rect r="r" b="b" t="t" l="l"/>
            <a:pathLst>
              <a:path h="211905" w="223272">
                <a:moveTo>
                  <a:pt x="0" y="0"/>
                </a:moveTo>
                <a:lnTo>
                  <a:pt x="223271" y="0"/>
                </a:lnTo>
                <a:lnTo>
                  <a:pt x="223271" y="211905"/>
                </a:lnTo>
                <a:lnTo>
                  <a:pt x="0" y="211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02944" y="716478"/>
            <a:ext cx="223272" cy="211905"/>
          </a:xfrm>
          <a:custGeom>
            <a:avLst/>
            <a:gdLst/>
            <a:ahLst/>
            <a:cxnLst/>
            <a:rect r="r" b="b" t="t" l="l"/>
            <a:pathLst>
              <a:path h="211905" w="223272">
                <a:moveTo>
                  <a:pt x="0" y="0"/>
                </a:moveTo>
                <a:lnTo>
                  <a:pt x="223272" y="0"/>
                </a:lnTo>
                <a:lnTo>
                  <a:pt x="223272" y="211905"/>
                </a:lnTo>
                <a:lnTo>
                  <a:pt x="0" y="211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361188" y="3310650"/>
            <a:ext cx="223272" cy="211905"/>
          </a:xfrm>
          <a:custGeom>
            <a:avLst/>
            <a:gdLst/>
            <a:ahLst/>
            <a:cxnLst/>
            <a:rect r="r" b="b" t="t" l="l"/>
            <a:pathLst>
              <a:path h="211905" w="223272">
                <a:moveTo>
                  <a:pt x="0" y="0"/>
                </a:moveTo>
                <a:lnTo>
                  <a:pt x="223271" y="0"/>
                </a:lnTo>
                <a:lnTo>
                  <a:pt x="223271" y="211905"/>
                </a:lnTo>
                <a:lnTo>
                  <a:pt x="0" y="2119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078114" y="8665323"/>
            <a:ext cx="223272" cy="211905"/>
          </a:xfrm>
          <a:custGeom>
            <a:avLst/>
            <a:gdLst/>
            <a:ahLst/>
            <a:cxnLst/>
            <a:rect r="r" b="b" t="t" l="l"/>
            <a:pathLst>
              <a:path h="211905" w="223272">
                <a:moveTo>
                  <a:pt x="0" y="0"/>
                </a:moveTo>
                <a:lnTo>
                  <a:pt x="223272" y="0"/>
                </a:lnTo>
                <a:lnTo>
                  <a:pt x="223272" y="211905"/>
                </a:lnTo>
                <a:lnTo>
                  <a:pt x="0" y="2119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59153" y="4561382"/>
            <a:ext cx="223272" cy="211905"/>
          </a:xfrm>
          <a:custGeom>
            <a:avLst/>
            <a:gdLst/>
            <a:ahLst/>
            <a:cxnLst/>
            <a:rect r="r" b="b" t="t" l="l"/>
            <a:pathLst>
              <a:path h="211905" w="223272">
                <a:moveTo>
                  <a:pt x="0" y="0"/>
                </a:moveTo>
                <a:lnTo>
                  <a:pt x="223272" y="0"/>
                </a:lnTo>
                <a:lnTo>
                  <a:pt x="223272" y="211905"/>
                </a:lnTo>
                <a:lnTo>
                  <a:pt x="0" y="211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259300" y="928383"/>
            <a:ext cx="223272" cy="211905"/>
          </a:xfrm>
          <a:custGeom>
            <a:avLst/>
            <a:gdLst/>
            <a:ahLst/>
            <a:cxnLst/>
            <a:rect r="r" b="b" t="t" l="l"/>
            <a:pathLst>
              <a:path h="211905" w="223272">
                <a:moveTo>
                  <a:pt x="0" y="0"/>
                </a:moveTo>
                <a:lnTo>
                  <a:pt x="223272" y="0"/>
                </a:lnTo>
                <a:lnTo>
                  <a:pt x="223272" y="211905"/>
                </a:lnTo>
                <a:lnTo>
                  <a:pt x="0" y="2119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647419" y="9274887"/>
            <a:ext cx="331695" cy="314808"/>
          </a:xfrm>
          <a:custGeom>
            <a:avLst/>
            <a:gdLst/>
            <a:ahLst/>
            <a:cxnLst/>
            <a:rect r="r" b="b" t="t" l="l"/>
            <a:pathLst>
              <a:path h="314808" w="331695">
                <a:moveTo>
                  <a:pt x="0" y="0"/>
                </a:moveTo>
                <a:lnTo>
                  <a:pt x="331694" y="0"/>
                </a:lnTo>
                <a:lnTo>
                  <a:pt x="331694" y="314808"/>
                </a:lnTo>
                <a:lnTo>
                  <a:pt x="0" y="3148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714430" y="7242079"/>
            <a:ext cx="2977575" cy="2769144"/>
          </a:xfrm>
          <a:custGeom>
            <a:avLst/>
            <a:gdLst/>
            <a:ahLst/>
            <a:cxnLst/>
            <a:rect r="r" b="b" t="t" l="l"/>
            <a:pathLst>
              <a:path h="2769144" w="2977575">
                <a:moveTo>
                  <a:pt x="0" y="0"/>
                </a:moveTo>
                <a:lnTo>
                  <a:pt x="2977575" y="0"/>
                </a:lnTo>
                <a:lnTo>
                  <a:pt x="2977575" y="2769144"/>
                </a:lnTo>
                <a:lnTo>
                  <a:pt x="0" y="27691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119427" y="7201990"/>
            <a:ext cx="3660097" cy="3275787"/>
          </a:xfrm>
          <a:custGeom>
            <a:avLst/>
            <a:gdLst/>
            <a:ahLst/>
            <a:cxnLst/>
            <a:rect r="r" b="b" t="t" l="l"/>
            <a:pathLst>
              <a:path h="3275787" w="3660097">
                <a:moveTo>
                  <a:pt x="0" y="0"/>
                </a:moveTo>
                <a:lnTo>
                  <a:pt x="3660097" y="0"/>
                </a:lnTo>
                <a:lnTo>
                  <a:pt x="3660097" y="3275787"/>
                </a:lnTo>
                <a:lnTo>
                  <a:pt x="0" y="32757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042719" y="1250288"/>
            <a:ext cx="2389509" cy="123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0"/>
              </a:lnSpc>
              <a:spcBef>
                <a:spcPct val="0"/>
              </a:spcBef>
            </a:pPr>
            <a:r>
              <a:rPr lang="en-US" b="true" sz="7222">
                <a:solidFill>
                  <a:srgbClr val="1A5EDB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VS.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5705" y="740275"/>
            <a:ext cx="7993144" cy="167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35"/>
              </a:lnSpc>
              <a:spcBef>
                <a:spcPct val="0"/>
              </a:spcBef>
            </a:pPr>
            <a:r>
              <a:rPr lang="en-US" sz="4810" strike="noStrike" u="none">
                <a:solidFill>
                  <a:srgbClr val="11CA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TRADITIONAL AI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93602" y="412820"/>
            <a:ext cx="4504324" cy="2599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23"/>
              </a:lnSpc>
              <a:spcBef>
                <a:spcPct val="0"/>
              </a:spcBef>
            </a:pPr>
            <a:r>
              <a:rPr lang="en-US" sz="4945" strike="noStrike" u="none">
                <a:solidFill>
                  <a:srgbClr val="00326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CHOOSE YOUR CHAOS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40456" y="3839388"/>
            <a:ext cx="7302263" cy="410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28" indent="-421014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Gives one recommendation</a:t>
            </a:r>
          </a:p>
          <a:p>
            <a:pPr algn="l" marL="842028" indent="-421014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“Do this”</a:t>
            </a:r>
          </a:p>
          <a:p>
            <a:pPr algn="l" marL="842028" indent="-421014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Static response</a:t>
            </a:r>
          </a:p>
          <a:p>
            <a:pPr algn="l" marL="842028" indent="-421014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Focuses on one solution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36802" y="3839388"/>
            <a:ext cx="8264968" cy="478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28" indent="-421014" lvl="1">
              <a:lnSpc>
                <a:spcPts val="5460"/>
              </a:lnSpc>
              <a:buFont typeface="Arial"/>
              <a:buChar char="•"/>
            </a:pPr>
            <a:r>
              <a:rPr lang="en-US" sz="3900" strike="noStrike" u="none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Simulates multiple scenarios</a:t>
            </a:r>
          </a:p>
          <a:p>
            <a:pPr algn="l" marL="842028" indent="-421014" lvl="1">
              <a:lnSpc>
                <a:spcPts val="5460"/>
              </a:lnSpc>
              <a:buFont typeface="Arial"/>
              <a:buChar char="•"/>
            </a:pPr>
            <a:r>
              <a:rPr lang="en-US" sz="3900" strike="noStrike" u="none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“Here’s what could happen”</a:t>
            </a:r>
          </a:p>
          <a:p>
            <a:pPr algn="l" marL="842028" indent="-421014" lvl="1">
              <a:lnSpc>
                <a:spcPts val="5460"/>
              </a:lnSpc>
              <a:buFont typeface="Arial"/>
              <a:buChar char="•"/>
            </a:pPr>
            <a:r>
              <a:rPr lang="en-US" sz="3900" strike="noStrike" u="none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Interactive exploration</a:t>
            </a:r>
          </a:p>
          <a:p>
            <a:pPr algn="l" marL="842028" indent="-421014" lvl="1">
              <a:lnSpc>
                <a:spcPts val="5460"/>
              </a:lnSpc>
              <a:buFont typeface="Arial"/>
              <a:buChar char="•"/>
            </a:pPr>
            <a:r>
              <a:rPr lang="en-US" sz="3900" strike="noStrike" u="none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Shows trade-offs between choices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4936" y="-109765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15609" y="529374"/>
            <a:ext cx="7343537" cy="109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66"/>
              </a:lnSpc>
            </a:pPr>
            <a:r>
              <a:rPr lang="en-US" sz="8491" spc="-551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IMPACT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07032" y="2163658"/>
            <a:ext cx="8914456" cy="3868994"/>
            <a:chOff x="0" y="0"/>
            <a:chExt cx="2347840" cy="10189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7840" cy="1018994"/>
            </a:xfrm>
            <a:custGeom>
              <a:avLst/>
              <a:gdLst/>
              <a:ahLst/>
              <a:cxnLst/>
              <a:rect r="r" b="b" t="t" l="l"/>
              <a:pathLst>
                <a:path h="1018994" w="2347840">
                  <a:moveTo>
                    <a:pt x="34739" y="0"/>
                  </a:moveTo>
                  <a:lnTo>
                    <a:pt x="2313102" y="0"/>
                  </a:lnTo>
                  <a:cubicBezTo>
                    <a:pt x="2332287" y="0"/>
                    <a:pt x="2347840" y="15553"/>
                    <a:pt x="2347840" y="34739"/>
                  </a:cubicBezTo>
                  <a:lnTo>
                    <a:pt x="2347840" y="984256"/>
                  </a:lnTo>
                  <a:cubicBezTo>
                    <a:pt x="2347840" y="1003441"/>
                    <a:pt x="2332287" y="1018994"/>
                    <a:pt x="2313102" y="1018994"/>
                  </a:cubicBezTo>
                  <a:lnTo>
                    <a:pt x="34739" y="1018994"/>
                  </a:lnTo>
                  <a:cubicBezTo>
                    <a:pt x="15553" y="1018994"/>
                    <a:pt x="0" y="1003441"/>
                    <a:pt x="0" y="984256"/>
                  </a:cubicBezTo>
                  <a:lnTo>
                    <a:pt x="0" y="34739"/>
                  </a:lnTo>
                  <a:cubicBezTo>
                    <a:pt x="0" y="15553"/>
                    <a:pt x="15553" y="0"/>
                    <a:pt x="347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D25D0">
                    <a:alpha val="36000"/>
                  </a:srgbClr>
                </a:gs>
                <a:gs pos="100000">
                  <a:srgbClr val="FF51D6">
                    <a:alpha val="36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47840" cy="1057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400757"/>
            <a:ext cx="7899823" cy="370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299" spc="6">
                <a:solidFill>
                  <a:srgbClr val="FFFF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Phase 1 </a:t>
            </a:r>
          </a:p>
          <a:p>
            <a:pPr algn="ctr">
              <a:lnSpc>
                <a:spcPts val="3812"/>
              </a:lnSpc>
            </a:pPr>
            <a:r>
              <a:rPr lang="en-US" sz="30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Focus on:</a:t>
            </a:r>
          </a:p>
          <a:p>
            <a:pPr algn="ctr" marL="669285" indent="-334642" lvl="1">
              <a:lnSpc>
                <a:spcPts val="3812"/>
              </a:lnSpc>
              <a:buFont typeface="Arial"/>
              <a:buChar char="•"/>
            </a:pPr>
            <a:r>
              <a:rPr lang="en-US" sz="30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User inputs</a:t>
            </a:r>
          </a:p>
          <a:p>
            <a:pPr algn="ctr" marL="669285" indent="-334642" lvl="1">
              <a:lnSpc>
                <a:spcPts val="3812"/>
              </a:lnSpc>
              <a:buFont typeface="Arial"/>
              <a:buChar char="•"/>
            </a:pPr>
            <a:r>
              <a:rPr lang="en-US" sz="30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AI-generated scenarios</a:t>
            </a:r>
          </a:p>
          <a:p>
            <a:pPr algn="ctr" marL="669285" indent="-334642" lvl="1">
              <a:lnSpc>
                <a:spcPts val="3812"/>
              </a:lnSpc>
              <a:buFont typeface="Arial"/>
              <a:buChar char="•"/>
            </a:pPr>
            <a:r>
              <a:rPr lang="en-US" sz="30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Scenario comparison</a:t>
            </a:r>
          </a:p>
          <a:p>
            <a:pPr algn="ctr" marL="669285" indent="-334642" lvl="1">
              <a:lnSpc>
                <a:spcPts val="3812"/>
              </a:lnSpc>
              <a:buFont typeface="Arial"/>
              <a:buChar char="•"/>
            </a:pPr>
            <a:r>
              <a:rPr lang="en-US" sz="30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Life Score</a:t>
            </a:r>
          </a:p>
          <a:p>
            <a:pPr algn="ctr" marL="669285" indent="-334642" lvl="1">
              <a:lnSpc>
                <a:spcPts val="3812"/>
              </a:lnSpc>
              <a:buFont typeface="Arial"/>
              <a:buChar char="•"/>
            </a:pPr>
            <a:r>
              <a:rPr lang="en-US" sz="30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Interactive decision tree</a:t>
            </a:r>
          </a:p>
          <a:p>
            <a:pPr algn="l">
              <a:lnSpc>
                <a:spcPts val="2583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400976" y="6444591"/>
            <a:ext cx="8914456" cy="3732644"/>
            <a:chOff x="0" y="0"/>
            <a:chExt cx="2347840" cy="9830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7840" cy="983083"/>
            </a:xfrm>
            <a:custGeom>
              <a:avLst/>
              <a:gdLst/>
              <a:ahLst/>
              <a:cxnLst/>
              <a:rect r="r" b="b" t="t" l="l"/>
              <a:pathLst>
                <a:path h="983083" w="2347840">
                  <a:moveTo>
                    <a:pt x="34739" y="0"/>
                  </a:moveTo>
                  <a:lnTo>
                    <a:pt x="2313102" y="0"/>
                  </a:lnTo>
                  <a:cubicBezTo>
                    <a:pt x="2332287" y="0"/>
                    <a:pt x="2347840" y="15553"/>
                    <a:pt x="2347840" y="34739"/>
                  </a:cubicBezTo>
                  <a:lnTo>
                    <a:pt x="2347840" y="948344"/>
                  </a:lnTo>
                  <a:cubicBezTo>
                    <a:pt x="2347840" y="967530"/>
                    <a:pt x="2332287" y="983083"/>
                    <a:pt x="2313102" y="983083"/>
                  </a:cubicBezTo>
                  <a:lnTo>
                    <a:pt x="34739" y="983083"/>
                  </a:lnTo>
                  <a:cubicBezTo>
                    <a:pt x="15553" y="983083"/>
                    <a:pt x="0" y="967530"/>
                    <a:pt x="0" y="948344"/>
                  </a:cubicBezTo>
                  <a:lnTo>
                    <a:pt x="0" y="34739"/>
                  </a:lnTo>
                  <a:cubicBezTo>
                    <a:pt x="0" y="15553"/>
                    <a:pt x="15553" y="0"/>
                    <a:pt x="347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D25D0">
                    <a:alpha val="36000"/>
                  </a:srgbClr>
                </a:gs>
                <a:gs pos="100000">
                  <a:srgbClr val="FF51D6">
                    <a:alpha val="36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47840" cy="1021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62449" y="6812619"/>
            <a:ext cx="8603622" cy="3323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299" spc="6">
                <a:solidFill>
                  <a:srgbClr val="FFFF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Phase 2</a:t>
            </a:r>
          </a:p>
          <a:p>
            <a:pPr algn="ctr">
              <a:lnSpc>
                <a:spcPts val="3935"/>
              </a:lnSpc>
            </a:pPr>
            <a:r>
              <a:rPr lang="en-US" sz="31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Integrate:</a:t>
            </a:r>
          </a:p>
          <a:p>
            <a:pPr algn="ctr" marL="690874" indent="-345437" lvl="1">
              <a:lnSpc>
                <a:spcPts val="3935"/>
              </a:lnSpc>
              <a:buFont typeface="Arial"/>
              <a:buChar char="•"/>
            </a:pPr>
            <a:r>
              <a:rPr lang="en-US" sz="31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Maps</a:t>
            </a:r>
          </a:p>
          <a:p>
            <a:pPr algn="ctr" marL="690874" indent="-345437" lvl="1">
              <a:lnSpc>
                <a:spcPts val="3935"/>
              </a:lnSpc>
              <a:buFont typeface="Arial"/>
              <a:buChar char="•"/>
            </a:pPr>
            <a:r>
              <a:rPr lang="en-US" sz="31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Weather</a:t>
            </a:r>
          </a:p>
          <a:p>
            <a:pPr algn="ctr" marL="690874" indent="-345437" lvl="1">
              <a:lnSpc>
                <a:spcPts val="3935"/>
              </a:lnSpc>
              <a:buFont typeface="Arial"/>
              <a:buChar char="•"/>
            </a:pPr>
            <a:r>
              <a:rPr lang="en-US" sz="31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Budget estimation</a:t>
            </a:r>
          </a:p>
          <a:p>
            <a:pPr algn="ctr" marL="690874" indent="-345437" lvl="1">
              <a:lnSpc>
                <a:spcPts val="3935"/>
              </a:lnSpc>
              <a:buFont typeface="Arial"/>
              <a:buChar char="•"/>
            </a:pPr>
            <a:r>
              <a:rPr lang="en-US" sz="31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Calendar</a:t>
            </a:r>
          </a:p>
          <a:p>
            <a:pPr algn="just">
              <a:lnSpc>
                <a:spcPts val="2583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9921229" y="4246349"/>
            <a:ext cx="7765858" cy="4064563"/>
            <a:chOff x="0" y="0"/>
            <a:chExt cx="2045329" cy="10705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5329" cy="1070502"/>
            </a:xfrm>
            <a:custGeom>
              <a:avLst/>
              <a:gdLst/>
              <a:ahLst/>
              <a:cxnLst/>
              <a:rect r="r" b="b" t="t" l="l"/>
              <a:pathLst>
                <a:path h="1070502" w="2045329">
                  <a:moveTo>
                    <a:pt x="39877" y="0"/>
                  </a:moveTo>
                  <a:lnTo>
                    <a:pt x="2005452" y="0"/>
                  </a:lnTo>
                  <a:cubicBezTo>
                    <a:pt x="2016028" y="0"/>
                    <a:pt x="2026171" y="4201"/>
                    <a:pt x="2033649" y="11680"/>
                  </a:cubicBezTo>
                  <a:cubicBezTo>
                    <a:pt x="2041127" y="19158"/>
                    <a:pt x="2045329" y="29301"/>
                    <a:pt x="2045329" y="39877"/>
                  </a:cubicBezTo>
                  <a:lnTo>
                    <a:pt x="2045329" y="1030626"/>
                  </a:lnTo>
                  <a:cubicBezTo>
                    <a:pt x="2045329" y="1041202"/>
                    <a:pt x="2041127" y="1051344"/>
                    <a:pt x="2033649" y="1058823"/>
                  </a:cubicBezTo>
                  <a:cubicBezTo>
                    <a:pt x="2026171" y="1066301"/>
                    <a:pt x="2016028" y="1070502"/>
                    <a:pt x="2005452" y="1070502"/>
                  </a:cubicBezTo>
                  <a:lnTo>
                    <a:pt x="39877" y="1070502"/>
                  </a:lnTo>
                  <a:cubicBezTo>
                    <a:pt x="29301" y="1070502"/>
                    <a:pt x="19158" y="1066301"/>
                    <a:pt x="11680" y="1058823"/>
                  </a:cubicBezTo>
                  <a:cubicBezTo>
                    <a:pt x="4201" y="1051344"/>
                    <a:pt x="0" y="1041202"/>
                    <a:pt x="0" y="1030626"/>
                  </a:cubicBezTo>
                  <a:lnTo>
                    <a:pt x="0" y="39877"/>
                  </a:lnTo>
                  <a:cubicBezTo>
                    <a:pt x="0" y="29301"/>
                    <a:pt x="4201" y="19158"/>
                    <a:pt x="11680" y="11680"/>
                  </a:cubicBezTo>
                  <a:cubicBezTo>
                    <a:pt x="19158" y="4201"/>
                    <a:pt x="29301" y="0"/>
                    <a:pt x="398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D25D0">
                    <a:alpha val="36000"/>
                  </a:srgbClr>
                </a:gs>
                <a:gs pos="100000">
                  <a:srgbClr val="FF51D6">
                    <a:alpha val="36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45329" cy="1108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423908" y="4477965"/>
            <a:ext cx="6835392" cy="395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5"/>
              </a:lnSpc>
            </a:pPr>
            <a:r>
              <a:rPr lang="en-US" sz="3199" spc="6">
                <a:solidFill>
                  <a:srgbClr val="FFFFFF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Phase 3</a:t>
            </a:r>
          </a:p>
          <a:p>
            <a:pPr algn="ctr">
              <a:lnSpc>
                <a:spcPts val="3935"/>
              </a:lnSpc>
            </a:pPr>
            <a:r>
              <a:rPr lang="en-US" sz="31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Develop:</a:t>
            </a:r>
          </a:p>
          <a:p>
            <a:pPr algn="ctr" marL="690874" indent="-345437" lvl="1">
              <a:lnSpc>
                <a:spcPts val="3935"/>
              </a:lnSpc>
              <a:buFont typeface="Arial"/>
              <a:buChar char="•"/>
            </a:pPr>
            <a:r>
              <a:rPr lang="en-US" sz="31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Ripple Effect</a:t>
            </a:r>
          </a:p>
          <a:p>
            <a:pPr algn="ctr" marL="690874" indent="-345437" lvl="1">
              <a:lnSpc>
                <a:spcPts val="3935"/>
              </a:lnSpc>
              <a:buFont typeface="Arial"/>
              <a:buChar char="•"/>
            </a:pPr>
            <a:r>
              <a:rPr lang="en-US" sz="31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More pe</a:t>
            </a:r>
            <a:r>
              <a:rPr lang="en-US" sz="31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rsonalised simulations</a:t>
            </a:r>
          </a:p>
          <a:p>
            <a:pPr algn="ctr" marL="690874" indent="-345437" lvl="1">
              <a:lnSpc>
                <a:spcPts val="3935"/>
              </a:lnSpc>
              <a:buFont typeface="Arial"/>
              <a:buChar char="•"/>
            </a:pPr>
            <a:r>
              <a:rPr lang="en-US" sz="3199" spc="6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Learning from user preferences</a:t>
            </a:r>
          </a:p>
          <a:p>
            <a:pPr algn="ctr">
              <a:lnSpc>
                <a:spcPts val="3812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10871282" y="338874"/>
            <a:ext cx="6815804" cy="2976782"/>
          </a:xfrm>
          <a:custGeom>
            <a:avLst/>
            <a:gdLst/>
            <a:ahLst/>
            <a:cxnLst/>
            <a:rect r="r" b="b" t="t" l="l"/>
            <a:pathLst>
              <a:path h="2976782" w="6815804">
                <a:moveTo>
                  <a:pt x="6815804" y="0"/>
                </a:moveTo>
                <a:lnTo>
                  <a:pt x="0" y="0"/>
                </a:lnTo>
                <a:lnTo>
                  <a:pt x="0" y="2976782"/>
                </a:lnTo>
                <a:lnTo>
                  <a:pt x="6815804" y="2976782"/>
                </a:lnTo>
                <a:lnTo>
                  <a:pt x="68158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047289" y="1827265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0" y="0"/>
                </a:moveTo>
                <a:lnTo>
                  <a:pt x="2481422" y="0"/>
                </a:lnTo>
                <a:lnTo>
                  <a:pt x="2481422" y="1974570"/>
                </a:lnTo>
                <a:lnTo>
                  <a:pt x="0" y="197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true" rot="0">
            <a:off x="-1452721" y="7406294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6504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538371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15121" y="538371"/>
            <a:ext cx="17609011" cy="984100"/>
            <a:chOff x="0" y="0"/>
            <a:chExt cx="4637764" cy="2591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7764" cy="259187"/>
            </a:xfrm>
            <a:custGeom>
              <a:avLst/>
              <a:gdLst/>
              <a:ahLst/>
              <a:cxnLst/>
              <a:rect r="r" b="b" t="t" l="l"/>
              <a:pathLst>
                <a:path h="259187" w="4637764">
                  <a:moveTo>
                    <a:pt x="10112" y="0"/>
                  </a:moveTo>
                  <a:lnTo>
                    <a:pt x="4627652" y="0"/>
                  </a:lnTo>
                  <a:cubicBezTo>
                    <a:pt x="4633237" y="0"/>
                    <a:pt x="4637764" y="4527"/>
                    <a:pt x="4637764" y="10112"/>
                  </a:cubicBezTo>
                  <a:lnTo>
                    <a:pt x="4637764" y="249075"/>
                  </a:lnTo>
                  <a:cubicBezTo>
                    <a:pt x="4637764" y="254659"/>
                    <a:pt x="4633237" y="259187"/>
                    <a:pt x="4627652" y="259187"/>
                  </a:cubicBezTo>
                  <a:lnTo>
                    <a:pt x="10112" y="259187"/>
                  </a:lnTo>
                  <a:cubicBezTo>
                    <a:pt x="4527" y="259187"/>
                    <a:pt x="0" y="254659"/>
                    <a:pt x="0" y="249075"/>
                  </a:cubicBezTo>
                  <a:lnTo>
                    <a:pt x="0" y="10112"/>
                  </a:lnTo>
                  <a:cubicBezTo>
                    <a:pt x="0" y="4527"/>
                    <a:pt x="4527" y="0"/>
                    <a:pt x="101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D25D0">
                    <a:alpha val="36000"/>
                  </a:srgbClr>
                </a:gs>
                <a:gs pos="100000">
                  <a:srgbClr val="FF51D6">
                    <a:alpha val="36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637764" cy="297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9549" y="6827924"/>
            <a:ext cx="8274451" cy="3034339"/>
            <a:chOff x="0" y="0"/>
            <a:chExt cx="2179279" cy="7991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9279" cy="799167"/>
            </a:xfrm>
            <a:custGeom>
              <a:avLst/>
              <a:gdLst/>
              <a:ahLst/>
              <a:cxnLst/>
              <a:rect r="r" b="b" t="t" l="l"/>
              <a:pathLst>
                <a:path h="799167" w="2179279">
                  <a:moveTo>
                    <a:pt x="37426" y="0"/>
                  </a:moveTo>
                  <a:lnTo>
                    <a:pt x="2141854" y="0"/>
                  </a:lnTo>
                  <a:cubicBezTo>
                    <a:pt x="2162523" y="0"/>
                    <a:pt x="2179279" y="16756"/>
                    <a:pt x="2179279" y="37426"/>
                  </a:cubicBezTo>
                  <a:lnTo>
                    <a:pt x="2179279" y="761742"/>
                  </a:lnTo>
                  <a:cubicBezTo>
                    <a:pt x="2179279" y="782411"/>
                    <a:pt x="2162523" y="799167"/>
                    <a:pt x="2141854" y="799167"/>
                  </a:cubicBezTo>
                  <a:lnTo>
                    <a:pt x="37426" y="799167"/>
                  </a:lnTo>
                  <a:cubicBezTo>
                    <a:pt x="16756" y="799167"/>
                    <a:pt x="0" y="782411"/>
                    <a:pt x="0" y="761742"/>
                  </a:cubicBezTo>
                  <a:lnTo>
                    <a:pt x="0" y="37426"/>
                  </a:lnTo>
                  <a:cubicBezTo>
                    <a:pt x="0" y="16756"/>
                    <a:pt x="16756" y="0"/>
                    <a:pt x="374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D25D0">
                    <a:alpha val="36000"/>
                  </a:srgbClr>
                </a:gs>
                <a:gs pos="100000">
                  <a:srgbClr val="FF51D6">
                    <a:alpha val="36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79279" cy="83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489160" y="2312069"/>
            <a:ext cx="6063594" cy="4889995"/>
          </a:xfrm>
          <a:custGeom>
            <a:avLst/>
            <a:gdLst/>
            <a:ahLst/>
            <a:cxnLst/>
            <a:rect r="r" b="b" t="t" l="l"/>
            <a:pathLst>
              <a:path h="4889995" w="6063594">
                <a:moveTo>
                  <a:pt x="0" y="0"/>
                </a:moveTo>
                <a:lnTo>
                  <a:pt x="6063594" y="0"/>
                </a:lnTo>
                <a:lnTo>
                  <a:pt x="6063594" y="4889996"/>
                </a:lnTo>
                <a:lnTo>
                  <a:pt x="0" y="4889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126904">
            <a:off x="11480344" y="4988920"/>
            <a:ext cx="5108051" cy="4598199"/>
          </a:xfrm>
          <a:custGeom>
            <a:avLst/>
            <a:gdLst/>
            <a:ahLst/>
            <a:cxnLst/>
            <a:rect r="r" b="b" t="t" l="l"/>
            <a:pathLst>
              <a:path h="4598199" w="5108051">
                <a:moveTo>
                  <a:pt x="0" y="0"/>
                </a:moveTo>
                <a:lnTo>
                  <a:pt x="5108051" y="0"/>
                </a:lnTo>
                <a:lnTo>
                  <a:pt x="5108051" y="4598199"/>
                </a:lnTo>
                <a:lnTo>
                  <a:pt x="0" y="4598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-802857" y="1324785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883840" y="8737513"/>
            <a:ext cx="1864239" cy="769422"/>
          </a:xfrm>
          <a:custGeom>
            <a:avLst/>
            <a:gdLst/>
            <a:ahLst/>
            <a:cxnLst/>
            <a:rect r="r" b="b" t="t" l="l"/>
            <a:pathLst>
              <a:path h="769422" w="1864239">
                <a:moveTo>
                  <a:pt x="0" y="0"/>
                </a:moveTo>
                <a:lnTo>
                  <a:pt x="1864239" y="0"/>
                </a:lnTo>
                <a:lnTo>
                  <a:pt x="1864239" y="769423"/>
                </a:lnTo>
                <a:lnTo>
                  <a:pt x="0" y="769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34919" y="720501"/>
            <a:ext cx="12514856" cy="71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5"/>
              </a:lnSpc>
              <a:spcBef>
                <a:spcPct val="0"/>
              </a:spcBef>
            </a:pPr>
            <a:r>
              <a:rPr lang="en-US" sz="4831">
                <a:solidFill>
                  <a:srgbClr val="D1F5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MARKET POTENTIAL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070892" y="4289038"/>
            <a:ext cx="8274451" cy="3034339"/>
            <a:chOff x="0" y="0"/>
            <a:chExt cx="2179279" cy="7991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9279" cy="799167"/>
            </a:xfrm>
            <a:custGeom>
              <a:avLst/>
              <a:gdLst/>
              <a:ahLst/>
              <a:cxnLst/>
              <a:rect r="r" b="b" t="t" l="l"/>
              <a:pathLst>
                <a:path h="799167" w="2179279">
                  <a:moveTo>
                    <a:pt x="37426" y="0"/>
                  </a:moveTo>
                  <a:lnTo>
                    <a:pt x="2141854" y="0"/>
                  </a:lnTo>
                  <a:cubicBezTo>
                    <a:pt x="2162523" y="0"/>
                    <a:pt x="2179279" y="16756"/>
                    <a:pt x="2179279" y="37426"/>
                  </a:cubicBezTo>
                  <a:lnTo>
                    <a:pt x="2179279" y="761742"/>
                  </a:lnTo>
                  <a:cubicBezTo>
                    <a:pt x="2179279" y="782411"/>
                    <a:pt x="2162523" y="799167"/>
                    <a:pt x="2141854" y="799167"/>
                  </a:cubicBezTo>
                  <a:lnTo>
                    <a:pt x="37426" y="799167"/>
                  </a:lnTo>
                  <a:cubicBezTo>
                    <a:pt x="16756" y="799167"/>
                    <a:pt x="0" y="782411"/>
                    <a:pt x="0" y="761742"/>
                  </a:cubicBezTo>
                  <a:lnTo>
                    <a:pt x="0" y="37426"/>
                  </a:lnTo>
                  <a:cubicBezTo>
                    <a:pt x="0" y="16756"/>
                    <a:pt x="16756" y="0"/>
                    <a:pt x="374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D25D0">
                    <a:alpha val="36000"/>
                  </a:srgbClr>
                </a:gs>
                <a:gs pos="100000">
                  <a:srgbClr val="FF51D6">
                    <a:alpha val="36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9279" cy="83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37853" y="1722729"/>
            <a:ext cx="8274451" cy="3034339"/>
            <a:chOff x="0" y="0"/>
            <a:chExt cx="2179279" cy="7991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9279" cy="799167"/>
            </a:xfrm>
            <a:custGeom>
              <a:avLst/>
              <a:gdLst/>
              <a:ahLst/>
              <a:cxnLst/>
              <a:rect r="r" b="b" t="t" l="l"/>
              <a:pathLst>
                <a:path h="799167" w="2179279">
                  <a:moveTo>
                    <a:pt x="37426" y="0"/>
                  </a:moveTo>
                  <a:lnTo>
                    <a:pt x="2141854" y="0"/>
                  </a:lnTo>
                  <a:cubicBezTo>
                    <a:pt x="2162523" y="0"/>
                    <a:pt x="2179279" y="16756"/>
                    <a:pt x="2179279" y="37426"/>
                  </a:cubicBezTo>
                  <a:lnTo>
                    <a:pt x="2179279" y="761742"/>
                  </a:lnTo>
                  <a:cubicBezTo>
                    <a:pt x="2179279" y="782411"/>
                    <a:pt x="2162523" y="799167"/>
                    <a:pt x="2141854" y="799167"/>
                  </a:cubicBezTo>
                  <a:lnTo>
                    <a:pt x="37426" y="799167"/>
                  </a:lnTo>
                  <a:cubicBezTo>
                    <a:pt x="16756" y="799167"/>
                    <a:pt x="0" y="782411"/>
                    <a:pt x="0" y="761742"/>
                  </a:cubicBezTo>
                  <a:lnTo>
                    <a:pt x="0" y="37426"/>
                  </a:lnTo>
                  <a:cubicBezTo>
                    <a:pt x="0" y="16756"/>
                    <a:pt x="16756" y="0"/>
                    <a:pt x="374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D25D0">
                    <a:alpha val="36000"/>
                  </a:srgbClr>
                </a:gs>
                <a:gs pos="100000">
                  <a:srgbClr val="FF51D6">
                    <a:alpha val="36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179279" cy="83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15121" y="2161668"/>
            <a:ext cx="8409895" cy="107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4199">
                <a:solidFill>
                  <a:srgbClr val="09B3E4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large and rapidly growing AI assistant market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5121" y="3375554"/>
            <a:ext cx="8409895" cy="107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4199">
                <a:solidFill>
                  <a:srgbClr val="09B3E4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strong opportunity in India and </a:t>
            </a:r>
          </a:p>
          <a:p>
            <a:pPr algn="ctr">
              <a:lnSpc>
                <a:spcPts val="4199"/>
              </a:lnSpc>
            </a:pPr>
            <a:r>
              <a:rPr lang="en-US" sz="4199">
                <a:solidFill>
                  <a:srgbClr val="09B3E4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APAC.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75079" y="5033292"/>
            <a:ext cx="7886570" cy="149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sz="3938">
                <a:solidFill>
                  <a:srgbClr val="09B3E4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our target users: Students , young professionals ,travelers,busy indivduals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3489" y="7278265"/>
            <a:ext cx="7886570" cy="248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sz="3938">
                <a:solidFill>
                  <a:srgbClr val="09B3E4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choose your chaos turns the growing AI-assisatant market </a:t>
            </a:r>
          </a:p>
          <a:p>
            <a:pPr algn="ctr">
              <a:lnSpc>
                <a:spcPts val="3938"/>
              </a:lnSpc>
            </a:pPr>
            <a:r>
              <a:rPr lang="en-US" sz="3938">
                <a:solidFill>
                  <a:srgbClr val="09B3E4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from “AI gives me an answer”</a:t>
            </a:r>
          </a:p>
          <a:p>
            <a:pPr algn="ctr">
              <a:lnSpc>
                <a:spcPts val="3938"/>
              </a:lnSpc>
            </a:pPr>
            <a:r>
              <a:rPr lang="en-US" sz="3938">
                <a:solidFill>
                  <a:srgbClr val="09B3E4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into  “AI lets me to explore my choices”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87873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9" y="0"/>
                </a:lnTo>
                <a:lnTo>
                  <a:pt x="102703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0473" y="3843785"/>
            <a:ext cx="4856065" cy="4856065"/>
          </a:xfrm>
          <a:custGeom>
            <a:avLst/>
            <a:gdLst/>
            <a:ahLst/>
            <a:cxnLst/>
            <a:rect r="r" b="b" t="t" l="l"/>
            <a:pathLst>
              <a:path h="4856065" w="4856065">
                <a:moveTo>
                  <a:pt x="0" y="0"/>
                </a:moveTo>
                <a:lnTo>
                  <a:pt x="4856065" y="0"/>
                </a:lnTo>
                <a:lnTo>
                  <a:pt x="4856065" y="4856065"/>
                </a:lnTo>
                <a:lnTo>
                  <a:pt x="0" y="4856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736491" y="2037800"/>
            <a:ext cx="4951279" cy="4951279"/>
          </a:xfrm>
          <a:custGeom>
            <a:avLst/>
            <a:gdLst/>
            <a:ahLst/>
            <a:cxnLst/>
            <a:rect r="r" b="b" t="t" l="l"/>
            <a:pathLst>
              <a:path h="4951279" w="4951279">
                <a:moveTo>
                  <a:pt x="4951279" y="4951279"/>
                </a:moveTo>
                <a:lnTo>
                  <a:pt x="0" y="4951279"/>
                </a:lnTo>
                <a:lnTo>
                  <a:pt x="0" y="0"/>
                </a:lnTo>
                <a:lnTo>
                  <a:pt x="4951279" y="0"/>
                </a:lnTo>
                <a:lnTo>
                  <a:pt x="4951279" y="495127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91388" y="621030"/>
            <a:ext cx="4896612" cy="9265995"/>
          </a:xfrm>
          <a:custGeom>
            <a:avLst/>
            <a:gdLst/>
            <a:ahLst/>
            <a:cxnLst/>
            <a:rect r="r" b="b" t="t" l="l"/>
            <a:pathLst>
              <a:path h="9265995" w="4896612">
                <a:moveTo>
                  <a:pt x="0" y="0"/>
                </a:moveTo>
                <a:lnTo>
                  <a:pt x="4896612" y="0"/>
                </a:lnTo>
                <a:lnTo>
                  <a:pt x="4896612" y="9265994"/>
                </a:lnTo>
                <a:lnTo>
                  <a:pt x="0" y="92659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296" t="0" r="-629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152100"/>
            <a:ext cx="16907591" cy="6884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4"/>
              </a:lnSpc>
            </a:pPr>
            <a:r>
              <a:rPr lang="en-US" sz="5499" spc="1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OUR VISION</a:t>
            </a:r>
          </a:p>
          <a:p>
            <a:pPr algn="ctr">
              <a:lnSpc>
                <a:spcPts val="3799"/>
              </a:lnSpc>
            </a:pPr>
          </a:p>
          <a:p>
            <a:pPr algn="ctr">
              <a:lnSpc>
                <a:spcPts val="3799"/>
              </a:lnSpc>
            </a:pPr>
            <a:r>
              <a:rPr lang="en-US" sz="3999" spc="7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AI SHOULDN'T JUST TELL YOU WHAT TO CHOOSE.</a:t>
            </a:r>
          </a:p>
          <a:p>
            <a:pPr algn="ctr">
              <a:lnSpc>
                <a:spcPts val="3799"/>
              </a:lnSpc>
            </a:pPr>
            <a:r>
              <a:rPr lang="en-US" sz="3999" spc="7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IT SHOULD SHOW YOU WHERE EACH CHOICE COULD TAKE YOU.</a:t>
            </a:r>
          </a:p>
          <a:p>
            <a:pPr algn="ctr">
              <a:lnSpc>
                <a:spcPts val="3799"/>
              </a:lnSpc>
            </a:pPr>
          </a:p>
          <a:p>
            <a:pPr algn="ctr">
              <a:lnSpc>
                <a:spcPts val="3799"/>
              </a:lnSpc>
            </a:pPr>
            <a:r>
              <a:rPr lang="en-US" sz="3999" spc="7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TODAY: PLAN YOUR EVENING.</a:t>
            </a:r>
          </a:p>
          <a:p>
            <a:pPr algn="ctr">
              <a:lnSpc>
                <a:spcPts val="3799"/>
              </a:lnSpc>
            </a:pPr>
            <a:r>
              <a:rPr lang="en-US" sz="3999" spc="7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TOMORROW: NAVIGATE YOUR ENTIRE DAY.</a:t>
            </a:r>
          </a:p>
          <a:p>
            <a:pPr algn="ctr">
              <a:lnSpc>
                <a:spcPts val="3799"/>
              </a:lnSpc>
            </a:pPr>
          </a:p>
          <a:p>
            <a:pPr algn="ctr">
              <a:lnSpc>
                <a:spcPts val="3799"/>
              </a:lnSpc>
            </a:pPr>
            <a:r>
              <a:rPr lang="en-US" sz="3999" spc="7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📚 LIFE • 🚇 TRAVEL • 💰 BUDGET • ⏳ TIME</a:t>
            </a:r>
          </a:p>
          <a:p>
            <a:pPr algn="ctr">
              <a:lnSpc>
                <a:spcPts val="3799"/>
              </a:lnSpc>
            </a:pPr>
          </a:p>
          <a:p>
            <a:pPr algn="ctr">
              <a:lnSpc>
                <a:spcPts val="3799"/>
              </a:lnSpc>
            </a:pPr>
            <a:r>
              <a:rPr lang="en-US" sz="3999" spc="7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SEE THE POSSIBILITIES. UNDERSTAND THE TRADE-OFFS. CHOOSE YOUR CHAOS.</a:t>
            </a:r>
          </a:p>
          <a:p>
            <a:pPr algn="ctr" marL="0" indent="0" lvl="0">
              <a:lnSpc>
                <a:spcPts val="37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54226" y="516255"/>
            <a:ext cx="15913075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29"/>
              </a:lnSpc>
              <a:spcBef>
                <a:spcPct val="0"/>
              </a:spcBef>
            </a:pPr>
            <a:r>
              <a:rPr lang="en-US" sz="4949" spc="9">
                <a:solidFill>
                  <a:srgbClr val="11CA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OVERALL PROJECT VISION 🌟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96029" y="9030694"/>
            <a:ext cx="1274721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36049" y="5249924"/>
            <a:ext cx="2934631" cy="293463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7783" t="-56314" r="-48663" b="-123793"/>
              </a:stretch>
            </a:blipFill>
            <a:ln w="104775" cap="sq">
              <a:solidFill>
                <a:srgbClr val="02524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924033" y="5249924"/>
            <a:ext cx="2934631" cy="293463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6747" t="0" r="-16747" b="0"/>
              </a:stretch>
            </a:blipFill>
            <a:ln w="104775" cap="sq">
              <a:solidFill>
                <a:srgbClr val="02524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886368" y="5249924"/>
            <a:ext cx="2934631" cy="293463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61481" r="0" b="-61481"/>
              </a:stretch>
            </a:blipFill>
            <a:ln w="104775" cap="sq">
              <a:solidFill>
                <a:srgbClr val="02524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705148" y="5249924"/>
            <a:ext cx="2934631" cy="293463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0231" r="0" b="-10231"/>
              </a:stretch>
            </a:blipFill>
            <a:ln w="104775" cap="sq">
              <a:solidFill>
                <a:srgbClr val="02524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94850" y="8426058"/>
            <a:ext cx="3217029" cy="832242"/>
            <a:chOff x="0" y="0"/>
            <a:chExt cx="586355" cy="1516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6355" cy="151689"/>
            </a:xfrm>
            <a:custGeom>
              <a:avLst/>
              <a:gdLst/>
              <a:ahLst/>
              <a:cxnLst/>
              <a:rect r="r" b="b" t="t" l="l"/>
              <a:pathLst>
                <a:path h="151689" w="586355">
                  <a:moveTo>
                    <a:pt x="75845" y="0"/>
                  </a:moveTo>
                  <a:lnTo>
                    <a:pt x="510510" y="0"/>
                  </a:lnTo>
                  <a:cubicBezTo>
                    <a:pt x="552398" y="0"/>
                    <a:pt x="586355" y="33957"/>
                    <a:pt x="586355" y="75845"/>
                  </a:cubicBezTo>
                  <a:lnTo>
                    <a:pt x="586355" y="75845"/>
                  </a:lnTo>
                  <a:cubicBezTo>
                    <a:pt x="586355" y="117732"/>
                    <a:pt x="552398" y="151689"/>
                    <a:pt x="510510" y="151689"/>
                  </a:cubicBezTo>
                  <a:lnTo>
                    <a:pt x="75845" y="151689"/>
                  </a:lnTo>
                  <a:cubicBezTo>
                    <a:pt x="33957" y="151689"/>
                    <a:pt x="0" y="117732"/>
                    <a:pt x="0" y="75845"/>
                  </a:cubicBezTo>
                  <a:lnTo>
                    <a:pt x="0" y="75845"/>
                  </a:lnTo>
                  <a:cubicBezTo>
                    <a:pt x="0" y="33957"/>
                    <a:pt x="33957" y="0"/>
                    <a:pt x="75845" y="0"/>
                  </a:cubicBezTo>
                  <a:close/>
                </a:path>
              </a:pathLst>
            </a:custGeom>
            <a:solidFill>
              <a:srgbClr val="5CB6F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586355" cy="208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210 8비트"/>
                  <a:ea typeface="210 8비트"/>
                  <a:cs typeface="210 8비트"/>
                  <a:sym typeface="210 8비트"/>
                </a:rPr>
                <a:t>Pranshi Aggarwal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82834" y="8426058"/>
            <a:ext cx="3217029" cy="832242"/>
            <a:chOff x="0" y="0"/>
            <a:chExt cx="586355" cy="1516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6355" cy="151689"/>
            </a:xfrm>
            <a:custGeom>
              <a:avLst/>
              <a:gdLst/>
              <a:ahLst/>
              <a:cxnLst/>
              <a:rect r="r" b="b" t="t" l="l"/>
              <a:pathLst>
                <a:path h="151689" w="586355">
                  <a:moveTo>
                    <a:pt x="75845" y="0"/>
                  </a:moveTo>
                  <a:lnTo>
                    <a:pt x="510510" y="0"/>
                  </a:lnTo>
                  <a:cubicBezTo>
                    <a:pt x="552398" y="0"/>
                    <a:pt x="586355" y="33957"/>
                    <a:pt x="586355" y="75845"/>
                  </a:cubicBezTo>
                  <a:lnTo>
                    <a:pt x="586355" y="75845"/>
                  </a:lnTo>
                  <a:cubicBezTo>
                    <a:pt x="586355" y="117732"/>
                    <a:pt x="552398" y="151689"/>
                    <a:pt x="510510" y="151689"/>
                  </a:cubicBezTo>
                  <a:lnTo>
                    <a:pt x="75845" y="151689"/>
                  </a:lnTo>
                  <a:cubicBezTo>
                    <a:pt x="33957" y="151689"/>
                    <a:pt x="0" y="117732"/>
                    <a:pt x="0" y="75845"/>
                  </a:cubicBezTo>
                  <a:lnTo>
                    <a:pt x="0" y="75845"/>
                  </a:lnTo>
                  <a:cubicBezTo>
                    <a:pt x="0" y="33957"/>
                    <a:pt x="33957" y="0"/>
                    <a:pt x="75845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86355" cy="218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210 8비트"/>
                  <a:ea typeface="210 8비트"/>
                  <a:cs typeface="210 8비트"/>
                  <a:sym typeface="210 8비트"/>
                </a:rPr>
                <a:t>Abisha Mourya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45169" y="8426058"/>
            <a:ext cx="3217029" cy="832242"/>
            <a:chOff x="0" y="0"/>
            <a:chExt cx="586355" cy="1516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6355" cy="151689"/>
            </a:xfrm>
            <a:custGeom>
              <a:avLst/>
              <a:gdLst/>
              <a:ahLst/>
              <a:cxnLst/>
              <a:rect r="r" b="b" t="t" l="l"/>
              <a:pathLst>
                <a:path h="151689" w="586355">
                  <a:moveTo>
                    <a:pt x="75845" y="0"/>
                  </a:moveTo>
                  <a:lnTo>
                    <a:pt x="510510" y="0"/>
                  </a:lnTo>
                  <a:cubicBezTo>
                    <a:pt x="552398" y="0"/>
                    <a:pt x="586355" y="33957"/>
                    <a:pt x="586355" y="75845"/>
                  </a:cubicBezTo>
                  <a:lnTo>
                    <a:pt x="586355" y="75845"/>
                  </a:lnTo>
                  <a:cubicBezTo>
                    <a:pt x="586355" y="117732"/>
                    <a:pt x="552398" y="151689"/>
                    <a:pt x="510510" y="151689"/>
                  </a:cubicBezTo>
                  <a:lnTo>
                    <a:pt x="75845" y="151689"/>
                  </a:lnTo>
                  <a:cubicBezTo>
                    <a:pt x="33957" y="151689"/>
                    <a:pt x="0" y="117732"/>
                    <a:pt x="0" y="75845"/>
                  </a:cubicBezTo>
                  <a:lnTo>
                    <a:pt x="0" y="75845"/>
                  </a:lnTo>
                  <a:cubicBezTo>
                    <a:pt x="0" y="33957"/>
                    <a:pt x="33957" y="0"/>
                    <a:pt x="75845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86355" cy="189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05148" y="8426058"/>
            <a:ext cx="3217029" cy="832242"/>
            <a:chOff x="0" y="0"/>
            <a:chExt cx="586355" cy="1516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6355" cy="151689"/>
            </a:xfrm>
            <a:custGeom>
              <a:avLst/>
              <a:gdLst/>
              <a:ahLst/>
              <a:cxnLst/>
              <a:rect r="r" b="b" t="t" l="l"/>
              <a:pathLst>
                <a:path h="151689" w="586355">
                  <a:moveTo>
                    <a:pt x="75845" y="0"/>
                  </a:moveTo>
                  <a:lnTo>
                    <a:pt x="510510" y="0"/>
                  </a:lnTo>
                  <a:cubicBezTo>
                    <a:pt x="552398" y="0"/>
                    <a:pt x="586355" y="33957"/>
                    <a:pt x="586355" y="75845"/>
                  </a:cubicBezTo>
                  <a:lnTo>
                    <a:pt x="586355" y="75845"/>
                  </a:lnTo>
                  <a:cubicBezTo>
                    <a:pt x="586355" y="117732"/>
                    <a:pt x="552398" y="151689"/>
                    <a:pt x="510510" y="151689"/>
                  </a:cubicBezTo>
                  <a:lnTo>
                    <a:pt x="75845" y="151689"/>
                  </a:lnTo>
                  <a:cubicBezTo>
                    <a:pt x="33957" y="151689"/>
                    <a:pt x="0" y="117732"/>
                    <a:pt x="0" y="75845"/>
                  </a:cubicBezTo>
                  <a:lnTo>
                    <a:pt x="0" y="75845"/>
                  </a:lnTo>
                  <a:cubicBezTo>
                    <a:pt x="0" y="33957"/>
                    <a:pt x="33957" y="0"/>
                    <a:pt x="75845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86355" cy="189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642555" y="628183"/>
            <a:ext cx="9002891" cy="2520809"/>
          </a:xfrm>
          <a:custGeom>
            <a:avLst/>
            <a:gdLst/>
            <a:ahLst/>
            <a:cxnLst/>
            <a:rect r="r" b="b" t="t" l="l"/>
            <a:pathLst>
              <a:path h="2520809" w="9002891">
                <a:moveTo>
                  <a:pt x="0" y="0"/>
                </a:moveTo>
                <a:lnTo>
                  <a:pt x="9002890" y="0"/>
                </a:lnTo>
                <a:lnTo>
                  <a:pt x="9002890" y="2520810"/>
                </a:lnTo>
                <a:lnTo>
                  <a:pt x="0" y="2520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849194" y="8555159"/>
            <a:ext cx="2928938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Khyati Sharma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3755241"/>
            <a:ext cx="16968435" cy="71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5"/>
              </a:lnSpc>
              <a:spcBef>
                <a:spcPct val="0"/>
              </a:spcBef>
            </a:pPr>
            <a:r>
              <a:rPr lang="en-US" sz="4831">
                <a:solidFill>
                  <a:srgbClr val="D1F5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MEET </a:t>
            </a:r>
            <a:r>
              <a:rPr lang="en-US" sz="4831">
                <a:solidFill>
                  <a:srgbClr val="FFFAF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CHOOSE YOUR CHAOS</a:t>
            </a:r>
            <a:r>
              <a:rPr lang="en-US" sz="4831">
                <a:solidFill>
                  <a:srgbClr val="D1F5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TEAM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93420" y="8555159"/>
            <a:ext cx="2320528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Aaniya Jain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DAHTA6K-LBs</dc:identifier>
  <dcterms:modified xsi:type="dcterms:W3CDTF">2011-08-01T06:04:30Z</dcterms:modified>
  <cp:revision>1</cp:revision>
  <dc:title>Presentation</dc:title>
</cp:coreProperties>
</file>